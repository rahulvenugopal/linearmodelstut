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61" r:id="rId2"/>
    <p:sldId id="256" r:id="rId3"/>
    <p:sldId id="257" r:id="rId4"/>
    <p:sldId id="259" r:id="rId5"/>
    <p:sldId id="262" r:id="rId6"/>
    <p:sldId id="260" r:id="rId7"/>
    <p:sldId id="258" r:id="rId8"/>
    <p:sldId id="265" r:id="rId9"/>
    <p:sldId id="264" r:id="rId10"/>
    <p:sldId id="263" r:id="rId11"/>
    <p:sldId id="266" r:id="rId12"/>
    <p:sldId id="267" r:id="rId13"/>
    <p:sldId id="268" r:id="rId14"/>
    <p:sldId id="269" r:id="rId15"/>
    <p:sldId id="270" r:id="rId16"/>
    <p:sldId id="271" r:id="rId17"/>
    <p:sldId id="272" r:id="rId18"/>
    <p:sldId id="274" r:id="rId19"/>
    <p:sldId id="273"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1"/>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p:scale>
          <a:sx n="82" d="100"/>
          <a:sy n="82" d="100"/>
        </p:scale>
        <p:origin x="447"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DD144B-C87C-4A92-9D88-DA82BB49597A}" type="datetimeFigureOut">
              <a:rPr lang="en-IN" smtClean="0"/>
              <a:t>23-04-2026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4BF945E-A80E-4A80-8A5B-B26957F49A88}" type="slidenum">
              <a:rPr lang="en-IN" smtClean="0"/>
              <a:t>‹#›</a:t>
            </a:fld>
            <a:endParaRPr lang="en-IN"/>
          </a:p>
        </p:txBody>
      </p:sp>
    </p:spTree>
    <p:extLst>
      <p:ext uri="{BB962C8B-B14F-4D97-AF65-F5344CB8AC3E}">
        <p14:creationId xmlns:p14="http://schemas.microsoft.com/office/powerpoint/2010/main" val="3246282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average intercept and slope act like a center of gravity, pulling values parameter estimates towards it. Hmm, maybe gravity is not quite the right analogy, because the pull is greater for more extreme values. The lines near that center point are very short; they get adjusted very little. The lines in general get longer as we move away from the complete pooling estimate. The fewer the observations in a cluster (here, participants), the more information is borrowed from other clusters, and the greater the pull towards the average estimate. Participant 373 had one observation, so their slope estimate is the average. Likewise, 374 had only two observations, so they get pulled the farthest and receive a slope estimate near the overall average.</a:t>
            </a:r>
            <a:endParaRPr lang="en-IN" dirty="0"/>
          </a:p>
        </p:txBody>
      </p:sp>
      <p:sp>
        <p:nvSpPr>
          <p:cNvPr id="4" name="Slide Number Placeholder 3"/>
          <p:cNvSpPr>
            <a:spLocks noGrp="1"/>
          </p:cNvSpPr>
          <p:nvPr>
            <p:ph type="sldNum" sz="quarter" idx="5"/>
          </p:nvPr>
        </p:nvSpPr>
        <p:spPr/>
        <p:txBody>
          <a:bodyPr/>
          <a:lstStyle/>
          <a:p>
            <a:fld id="{14BF945E-A80E-4A80-8A5B-B26957F49A88}" type="slidenum">
              <a:rPr lang="en-IN" smtClean="0"/>
              <a:t>17</a:t>
            </a:fld>
            <a:endParaRPr lang="en-IN"/>
          </a:p>
        </p:txBody>
      </p:sp>
    </p:spTree>
    <p:extLst>
      <p:ext uri="{BB962C8B-B14F-4D97-AF65-F5344CB8AC3E}">
        <p14:creationId xmlns:p14="http://schemas.microsoft.com/office/powerpoint/2010/main" val="13528892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50374-956D-47E2-CAD9-1CD6369277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00D29-1A50-AEE4-AB3E-8FF7697A42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11E6E2-E6CF-AB04-5030-9992C98D5B96}"/>
              </a:ext>
            </a:extLst>
          </p:cNvPr>
          <p:cNvSpPr>
            <a:spLocks noGrp="1"/>
          </p:cNvSpPr>
          <p:nvPr>
            <p:ph type="body" idx="1"/>
          </p:nvPr>
        </p:nvSpPr>
        <p:spPr/>
        <p:txBody>
          <a:bodyPr/>
          <a:lstStyle/>
          <a:p>
            <a:r>
              <a:rPr lang="en-US" dirty="0"/>
              <a:t>The average intercept and slope act like a center of gravity, pulling values parameter estimates towards it. Hmm, maybe gravity is not quite the right analogy, because the pull is greater for more extreme values. The lines near that center point are very short; they get adjusted very little. The lines in general get longer as we move away from the complete pooling estimate. The fewer the observations in a cluster (here, participants), the more information is borrowed from other clusters, and the greater the pull towards the average estimate. Participant 373 had one observation, so their slope estimate is the average. Likewise, 374 had only two observations, so they get pulled the farthest and receive a slope estimate near the overall average.</a:t>
            </a:r>
            <a:endParaRPr lang="en-IN" dirty="0"/>
          </a:p>
        </p:txBody>
      </p:sp>
      <p:sp>
        <p:nvSpPr>
          <p:cNvPr id="4" name="Slide Number Placeholder 3">
            <a:extLst>
              <a:ext uri="{FF2B5EF4-FFF2-40B4-BE49-F238E27FC236}">
                <a16:creationId xmlns:a16="http://schemas.microsoft.com/office/drawing/2014/main" id="{2CAFF7F9-A862-5C22-0E07-E2742607DBCA}"/>
              </a:ext>
            </a:extLst>
          </p:cNvPr>
          <p:cNvSpPr>
            <a:spLocks noGrp="1"/>
          </p:cNvSpPr>
          <p:nvPr>
            <p:ph type="sldNum" sz="quarter" idx="5"/>
          </p:nvPr>
        </p:nvSpPr>
        <p:spPr/>
        <p:txBody>
          <a:bodyPr/>
          <a:lstStyle/>
          <a:p>
            <a:fld id="{14BF945E-A80E-4A80-8A5B-B26957F49A88}" type="slidenum">
              <a:rPr lang="en-IN" smtClean="0"/>
              <a:t>18</a:t>
            </a:fld>
            <a:endParaRPr lang="en-IN"/>
          </a:p>
        </p:txBody>
      </p:sp>
    </p:spTree>
    <p:extLst>
      <p:ext uri="{BB962C8B-B14F-4D97-AF65-F5344CB8AC3E}">
        <p14:creationId xmlns:p14="http://schemas.microsoft.com/office/powerpoint/2010/main" val="38407403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CD1E9-EC7F-7D7C-D13A-4FD85BF83A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4DF5FA-95C9-4CCC-0167-A3D6545752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64501C-93A8-468B-9BDF-E53FFBCD3F99}"/>
              </a:ext>
            </a:extLst>
          </p:cNvPr>
          <p:cNvSpPr>
            <a:spLocks noGrp="1"/>
          </p:cNvSpPr>
          <p:nvPr>
            <p:ph type="body" idx="1"/>
          </p:nvPr>
        </p:nvSpPr>
        <p:spPr/>
        <p:txBody>
          <a:bodyPr/>
          <a:lstStyle/>
          <a:p>
            <a:r>
              <a:rPr lang="en-US" dirty="0"/>
              <a:t>The average intercept and slope act like a center of gravity, pulling values parameter estimates towards it. Hmm, maybe gravity is not quite the right analogy, because the pull is greater for more extreme values. The lines near that center point are very short; they get adjusted very little. The lines in general get longer as we move away from the complete pooling estimate. The fewer the observations in a cluster (here, participants), the more information is borrowed from other clusters, and the greater the pull towards the average estimate. Participant 373 had one observation, so their slope estimate is the average. Likewise, 374 had only two observations, so they get pulled the farthest and receive a slope estimate near the overall average.</a:t>
            </a:r>
            <a:endParaRPr lang="en-IN" dirty="0"/>
          </a:p>
        </p:txBody>
      </p:sp>
      <p:sp>
        <p:nvSpPr>
          <p:cNvPr id="4" name="Slide Number Placeholder 3">
            <a:extLst>
              <a:ext uri="{FF2B5EF4-FFF2-40B4-BE49-F238E27FC236}">
                <a16:creationId xmlns:a16="http://schemas.microsoft.com/office/drawing/2014/main" id="{20241A49-E82E-E0C4-323D-009F87B2FE0D}"/>
              </a:ext>
            </a:extLst>
          </p:cNvPr>
          <p:cNvSpPr>
            <a:spLocks noGrp="1"/>
          </p:cNvSpPr>
          <p:nvPr>
            <p:ph type="sldNum" sz="quarter" idx="5"/>
          </p:nvPr>
        </p:nvSpPr>
        <p:spPr/>
        <p:txBody>
          <a:bodyPr/>
          <a:lstStyle/>
          <a:p>
            <a:fld id="{14BF945E-A80E-4A80-8A5B-B26957F49A88}" type="slidenum">
              <a:rPr lang="en-IN" smtClean="0"/>
              <a:t>19</a:t>
            </a:fld>
            <a:endParaRPr lang="en-IN"/>
          </a:p>
        </p:txBody>
      </p:sp>
    </p:spTree>
    <p:extLst>
      <p:ext uri="{BB962C8B-B14F-4D97-AF65-F5344CB8AC3E}">
        <p14:creationId xmlns:p14="http://schemas.microsoft.com/office/powerpoint/2010/main" val="40337259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D3C499AF-0042-4501-9269-39C1D205859E}" type="datetimeFigureOut">
              <a:rPr lang="en-IN" smtClean="0"/>
              <a:t>23-04-2026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664FD5F-81F4-42DB-982F-53F581C9B10E}" type="slidenum">
              <a:rPr lang="en-IN" smtClean="0"/>
              <a:t>‹#›</a:t>
            </a:fld>
            <a:endParaRPr lang="en-IN"/>
          </a:p>
        </p:txBody>
      </p:sp>
    </p:spTree>
    <p:extLst>
      <p:ext uri="{BB962C8B-B14F-4D97-AF65-F5344CB8AC3E}">
        <p14:creationId xmlns:p14="http://schemas.microsoft.com/office/powerpoint/2010/main" val="23447336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D3C499AF-0042-4501-9269-39C1D205859E}" type="datetimeFigureOut">
              <a:rPr lang="en-IN" smtClean="0"/>
              <a:t>23-04-2026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664FD5F-81F4-42DB-982F-53F581C9B10E}" type="slidenum">
              <a:rPr lang="en-IN" smtClean="0"/>
              <a:t>‹#›</a:t>
            </a:fld>
            <a:endParaRPr lang="en-IN"/>
          </a:p>
        </p:txBody>
      </p:sp>
    </p:spTree>
    <p:extLst>
      <p:ext uri="{BB962C8B-B14F-4D97-AF65-F5344CB8AC3E}">
        <p14:creationId xmlns:p14="http://schemas.microsoft.com/office/powerpoint/2010/main" val="19432967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3C499AF-0042-4501-9269-39C1D205859E}" type="datetimeFigureOut">
              <a:rPr lang="en-IN" smtClean="0"/>
              <a:t>23-04-2026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664FD5F-81F4-42DB-982F-53F581C9B10E}" type="slidenum">
              <a:rPr lang="en-IN" smtClean="0"/>
              <a:t>‹#›</a:t>
            </a:fld>
            <a:endParaRPr lang="en-IN"/>
          </a:p>
        </p:txBody>
      </p:sp>
    </p:spTree>
    <p:extLst>
      <p:ext uri="{BB962C8B-B14F-4D97-AF65-F5344CB8AC3E}">
        <p14:creationId xmlns:p14="http://schemas.microsoft.com/office/powerpoint/2010/main" val="37703908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D3C499AF-0042-4501-9269-39C1D205859E}" type="datetimeFigureOut">
              <a:rPr lang="en-IN" smtClean="0"/>
              <a:t>23-04-2026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1664FD5F-81F4-42DB-982F-53F581C9B10E}" type="slidenum">
              <a:rPr lang="en-IN" smtClean="0"/>
              <a:t>‹#›</a:t>
            </a:fld>
            <a:endParaRPr lang="en-IN"/>
          </a:p>
        </p:txBody>
      </p:sp>
    </p:spTree>
    <p:extLst>
      <p:ext uri="{BB962C8B-B14F-4D97-AF65-F5344CB8AC3E}">
        <p14:creationId xmlns:p14="http://schemas.microsoft.com/office/powerpoint/2010/main" val="42373821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D3C499AF-0042-4501-9269-39C1D205859E}" type="datetimeFigureOut">
              <a:rPr lang="en-IN" smtClean="0"/>
              <a:t>23-04-2026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1664FD5F-81F4-42DB-982F-53F581C9B10E}" type="slidenum">
              <a:rPr lang="en-IN" smtClean="0"/>
              <a:t>‹#›</a:t>
            </a:fld>
            <a:endParaRPr lang="en-IN"/>
          </a:p>
        </p:txBody>
      </p:sp>
    </p:spTree>
    <p:extLst>
      <p:ext uri="{BB962C8B-B14F-4D97-AF65-F5344CB8AC3E}">
        <p14:creationId xmlns:p14="http://schemas.microsoft.com/office/powerpoint/2010/main" val="1257623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D3C499AF-0042-4501-9269-39C1D205859E}" type="datetimeFigureOut">
              <a:rPr lang="en-IN" smtClean="0"/>
              <a:t>23-04-2026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1664FD5F-81F4-42DB-982F-53F581C9B10E}" type="slidenum">
              <a:rPr lang="en-IN" smtClean="0"/>
              <a:t>‹#›</a:t>
            </a:fld>
            <a:endParaRPr lang="en-IN"/>
          </a:p>
        </p:txBody>
      </p:sp>
    </p:spTree>
    <p:extLst>
      <p:ext uri="{BB962C8B-B14F-4D97-AF65-F5344CB8AC3E}">
        <p14:creationId xmlns:p14="http://schemas.microsoft.com/office/powerpoint/2010/main" val="41974678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3C499AF-0042-4501-9269-39C1D205859E}" type="datetimeFigureOut">
              <a:rPr lang="en-IN" smtClean="0"/>
              <a:t>23-04-2026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1664FD5F-81F4-42DB-982F-53F581C9B10E}" type="slidenum">
              <a:rPr lang="en-IN" smtClean="0"/>
              <a:t>‹#›</a:t>
            </a:fld>
            <a:endParaRPr lang="en-IN"/>
          </a:p>
        </p:txBody>
      </p:sp>
    </p:spTree>
    <p:extLst>
      <p:ext uri="{BB962C8B-B14F-4D97-AF65-F5344CB8AC3E}">
        <p14:creationId xmlns:p14="http://schemas.microsoft.com/office/powerpoint/2010/main" val="36627375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3C499AF-0042-4501-9269-39C1D205859E}" type="datetimeFigureOut">
              <a:rPr lang="en-IN" smtClean="0"/>
              <a:t>23-04-2026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1664FD5F-81F4-42DB-982F-53F581C9B10E}" type="slidenum">
              <a:rPr lang="en-IN" smtClean="0"/>
              <a:t>‹#›</a:t>
            </a:fld>
            <a:endParaRPr lang="en-IN"/>
          </a:p>
        </p:txBody>
      </p:sp>
    </p:spTree>
    <p:extLst>
      <p:ext uri="{BB962C8B-B14F-4D97-AF65-F5344CB8AC3E}">
        <p14:creationId xmlns:p14="http://schemas.microsoft.com/office/powerpoint/2010/main" val="19198671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3C499AF-0042-4501-9269-39C1D205859E}" type="datetimeFigureOut">
              <a:rPr lang="en-IN" smtClean="0"/>
              <a:t>23-04-2026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1664FD5F-81F4-42DB-982F-53F581C9B10E}" type="slidenum">
              <a:rPr lang="en-IN" smtClean="0"/>
              <a:t>‹#›</a:t>
            </a:fld>
            <a:endParaRPr lang="en-IN"/>
          </a:p>
        </p:txBody>
      </p:sp>
    </p:spTree>
    <p:extLst>
      <p:ext uri="{BB962C8B-B14F-4D97-AF65-F5344CB8AC3E}">
        <p14:creationId xmlns:p14="http://schemas.microsoft.com/office/powerpoint/2010/main" val="13343149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D3C499AF-0042-4501-9269-39C1D205859E}" type="datetimeFigureOut">
              <a:rPr lang="en-IN" smtClean="0"/>
              <a:t>23-04-2026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664FD5F-81F4-42DB-982F-53F581C9B10E}" type="slidenum">
              <a:rPr lang="en-IN" smtClean="0"/>
              <a:t>‹#›</a:t>
            </a:fld>
            <a:endParaRPr lang="en-IN"/>
          </a:p>
        </p:txBody>
      </p:sp>
    </p:spTree>
    <p:extLst>
      <p:ext uri="{BB962C8B-B14F-4D97-AF65-F5344CB8AC3E}">
        <p14:creationId xmlns:p14="http://schemas.microsoft.com/office/powerpoint/2010/main" val="26960473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D3C499AF-0042-4501-9269-39C1D205859E}" type="datetimeFigureOut">
              <a:rPr lang="en-IN" smtClean="0"/>
              <a:t>23-04-2026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1664FD5F-81F4-42DB-982F-53F581C9B10E}" type="slidenum">
              <a:rPr lang="en-IN" smtClean="0"/>
              <a:t>‹#›</a:t>
            </a:fld>
            <a:endParaRPr lang="en-IN"/>
          </a:p>
        </p:txBody>
      </p:sp>
    </p:spTree>
    <p:extLst>
      <p:ext uri="{BB962C8B-B14F-4D97-AF65-F5344CB8AC3E}">
        <p14:creationId xmlns:p14="http://schemas.microsoft.com/office/powerpoint/2010/main" val="10865248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3C499AF-0042-4501-9269-39C1D205859E}" type="datetimeFigureOut">
              <a:rPr lang="en-IN" smtClean="0"/>
              <a:t>23-04-2026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64FD5F-81F4-42DB-982F-53F581C9B10E}" type="slidenum">
              <a:rPr lang="en-IN" smtClean="0"/>
              <a:t>‹#›</a:t>
            </a:fld>
            <a:endParaRPr lang="en-IN"/>
          </a:p>
        </p:txBody>
      </p:sp>
    </p:spTree>
    <p:extLst>
      <p:ext uri="{BB962C8B-B14F-4D97-AF65-F5344CB8AC3E}">
        <p14:creationId xmlns:p14="http://schemas.microsoft.com/office/powerpoint/2010/main" val="4312820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8282"/>
            <a:ext cx="12192000" cy="6821436"/>
          </a:xfrm>
          <a:prstGeom prst="rect">
            <a:avLst/>
          </a:prstGeom>
        </p:spPr>
      </p:pic>
    </p:spTree>
    <p:extLst>
      <p:ext uri="{BB962C8B-B14F-4D97-AF65-F5344CB8AC3E}">
        <p14:creationId xmlns:p14="http://schemas.microsoft.com/office/powerpoint/2010/main" val="2511732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67000" y="197786"/>
            <a:ext cx="6858000" cy="409575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365499"/>
            <a:ext cx="12192000" cy="2492501"/>
          </a:xfrm>
          <a:prstGeom prst="rect">
            <a:avLst/>
          </a:prstGeom>
        </p:spPr>
      </p:pic>
    </p:spTree>
    <p:extLst>
      <p:ext uri="{BB962C8B-B14F-4D97-AF65-F5344CB8AC3E}">
        <p14:creationId xmlns:p14="http://schemas.microsoft.com/office/powerpoint/2010/main" val="856595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21523" y="981633"/>
            <a:ext cx="4283895" cy="4283895"/>
          </a:xfrm>
          <a:prstGeom prst="rect">
            <a:avLst/>
          </a:prstGeom>
        </p:spPr>
      </p:pic>
      <p:sp>
        <p:nvSpPr>
          <p:cNvPr id="6" name="Rectangle 5"/>
          <p:cNvSpPr/>
          <p:nvPr/>
        </p:nvSpPr>
        <p:spPr>
          <a:xfrm>
            <a:off x="2348136" y="148882"/>
            <a:ext cx="7830670" cy="461665"/>
          </a:xfrm>
          <a:prstGeom prst="rect">
            <a:avLst/>
          </a:prstGeom>
        </p:spPr>
        <p:txBody>
          <a:bodyPr wrap="square">
            <a:spAutoFit/>
          </a:bodyPr>
          <a:lstStyle/>
          <a:p>
            <a:pPr algn="ctr"/>
            <a:r>
              <a:rPr lang="en-US" sz="2400" b="1" dirty="0">
                <a:latin typeface="Aptos" panose="020B0004020202020204" pitchFamily="34" charset="0"/>
              </a:rPr>
              <a:t>Does Species predict Body mass of palmer penguins?</a:t>
            </a:r>
            <a:endParaRPr lang="en-IN" sz="2400" b="1" dirty="0">
              <a:latin typeface="Aptos" panose="020B0004020202020204" pitchFamily="34" charset="0"/>
            </a:endParaRPr>
          </a:p>
        </p:txBody>
      </p:sp>
      <p:sp>
        <p:nvSpPr>
          <p:cNvPr id="4" name="Rectangle 3"/>
          <p:cNvSpPr/>
          <p:nvPr/>
        </p:nvSpPr>
        <p:spPr>
          <a:xfrm>
            <a:off x="640975" y="5424611"/>
            <a:ext cx="9937377" cy="923330"/>
          </a:xfrm>
          <a:prstGeom prst="rect">
            <a:avLst/>
          </a:prstGeom>
        </p:spPr>
        <p:txBody>
          <a:bodyPr wrap="square">
            <a:spAutoFit/>
          </a:bodyPr>
          <a:lstStyle/>
          <a:p>
            <a:pPr marL="285750" indent="-285750">
              <a:buFont typeface="Arial" panose="020B0604020202020204" pitchFamily="34" charset="0"/>
              <a:buChar char="•"/>
            </a:pPr>
            <a:r>
              <a:rPr lang="en-US" dirty="0">
                <a:latin typeface="Aptos" panose="020B0004020202020204" pitchFamily="34" charset="0"/>
              </a:rPr>
              <a:t>We want to know if each species of penguins differ in their body weights and if so, how much?</a:t>
            </a:r>
          </a:p>
          <a:p>
            <a:pPr marL="285750" indent="-285750">
              <a:buFont typeface="Arial" panose="020B0604020202020204" pitchFamily="34" charset="0"/>
              <a:buChar char="•"/>
            </a:pPr>
            <a:endParaRPr lang="en-US" dirty="0">
              <a:latin typeface="Aptos" panose="020B0004020202020204" pitchFamily="34" charset="0"/>
            </a:endParaRPr>
          </a:p>
          <a:p>
            <a:pPr marL="285750" indent="-285750">
              <a:buFont typeface="Arial" panose="020B0604020202020204" pitchFamily="34" charset="0"/>
              <a:buChar char="•"/>
            </a:pPr>
            <a:r>
              <a:rPr lang="en-US" dirty="0">
                <a:latin typeface="Aptos" panose="020B0004020202020204" pitchFamily="34" charset="0"/>
              </a:rPr>
              <a:t>There could be lot many other aspects that determines body weight which is beyond</a:t>
            </a:r>
            <a:endParaRPr lang="en-IN" dirty="0">
              <a:latin typeface="Aptos" panose="020B0004020202020204" pitchFamily="34" charset="0"/>
            </a:endParaRPr>
          </a:p>
        </p:txBody>
      </p:sp>
      <p:sp>
        <p:nvSpPr>
          <p:cNvPr id="2" name="Rectangle 1"/>
          <p:cNvSpPr/>
          <p:nvPr/>
        </p:nvSpPr>
        <p:spPr>
          <a:xfrm>
            <a:off x="4863353" y="1394012"/>
            <a:ext cx="3312459" cy="3003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943114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470646" y="308954"/>
            <a:ext cx="5840135" cy="3226830"/>
          </a:xfrm>
          <a:prstGeom prst="rect">
            <a:avLst/>
          </a:prstGeom>
        </p:spPr>
      </p:pic>
      <p:sp>
        <p:nvSpPr>
          <p:cNvPr id="3" name="TextBox 2"/>
          <p:cNvSpPr txBox="1"/>
          <p:nvPr/>
        </p:nvSpPr>
        <p:spPr>
          <a:xfrm>
            <a:off x="6804212" y="595824"/>
            <a:ext cx="5387788" cy="2585323"/>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Aptos" panose="020B0004020202020204" pitchFamily="34" charset="0"/>
              </a:rPr>
              <a:t>Mean body mass for </a:t>
            </a:r>
            <a:r>
              <a:rPr lang="en-US" dirty="0" err="1">
                <a:latin typeface="Aptos" panose="020B0004020202020204" pitchFamily="34" charset="0"/>
              </a:rPr>
              <a:t>Adelie</a:t>
            </a:r>
            <a:r>
              <a:rPr lang="en-US" dirty="0">
                <a:latin typeface="Aptos" panose="020B0004020202020204" pitchFamily="34" charset="0"/>
              </a:rPr>
              <a:t> penguins (the reference species)</a:t>
            </a:r>
          </a:p>
          <a:p>
            <a:pPr marL="285750" indent="-285750">
              <a:buFont typeface="Arial" panose="020B0604020202020204" pitchFamily="34" charset="0"/>
              <a:buChar char="•"/>
            </a:pPr>
            <a:endParaRPr lang="en-IN" dirty="0">
              <a:latin typeface="Aptos" panose="020B0004020202020204" pitchFamily="34" charset="0"/>
            </a:endParaRPr>
          </a:p>
          <a:p>
            <a:pPr marL="285750" indent="-285750">
              <a:buFont typeface="Arial" panose="020B0604020202020204" pitchFamily="34" charset="0"/>
              <a:buChar char="•"/>
            </a:pPr>
            <a:r>
              <a:rPr lang="en-US" dirty="0">
                <a:latin typeface="Aptos" panose="020B0004020202020204" pitchFamily="34" charset="0"/>
              </a:rPr>
              <a:t>Chinstraps are, on average, about 32 g heavier than </a:t>
            </a:r>
            <a:r>
              <a:rPr lang="en-US" dirty="0" err="1">
                <a:latin typeface="Aptos" panose="020B0004020202020204" pitchFamily="34" charset="0"/>
              </a:rPr>
              <a:t>Adelies</a:t>
            </a:r>
            <a:r>
              <a:rPr lang="en-US" dirty="0">
                <a:latin typeface="Aptos" panose="020B0004020202020204" pitchFamily="34" charset="0"/>
              </a:rPr>
              <a:t> - but the p-value (0.631) says this difference is not statistically significant</a:t>
            </a:r>
          </a:p>
          <a:p>
            <a:pPr marL="285750" indent="-285750">
              <a:buFont typeface="Arial" panose="020B0604020202020204" pitchFamily="34" charset="0"/>
              <a:buChar char="•"/>
            </a:pPr>
            <a:endParaRPr lang="en-US" dirty="0">
              <a:latin typeface="Aptos" panose="020B0004020202020204" pitchFamily="34" charset="0"/>
            </a:endParaRPr>
          </a:p>
          <a:p>
            <a:pPr marL="285750" indent="-285750">
              <a:buFont typeface="Arial" panose="020B0604020202020204" pitchFamily="34" charset="0"/>
              <a:buChar char="•"/>
            </a:pPr>
            <a:r>
              <a:rPr lang="en-US" dirty="0" err="1">
                <a:latin typeface="Aptos" panose="020B0004020202020204" pitchFamily="34" charset="0"/>
              </a:rPr>
              <a:t>Gentoos</a:t>
            </a:r>
            <a:r>
              <a:rPr lang="en-US" dirty="0">
                <a:latin typeface="Aptos" panose="020B0004020202020204" pitchFamily="34" charset="0"/>
              </a:rPr>
              <a:t> are on average 1,375 g heavier than </a:t>
            </a:r>
            <a:r>
              <a:rPr lang="en-US" dirty="0" err="1">
                <a:latin typeface="Aptos" panose="020B0004020202020204" pitchFamily="34" charset="0"/>
              </a:rPr>
              <a:t>Adelies</a:t>
            </a:r>
            <a:r>
              <a:rPr lang="en-US" dirty="0">
                <a:latin typeface="Aptos" panose="020B0004020202020204" pitchFamily="34" charset="0"/>
              </a:rPr>
              <a:t>, and the difference is highly significant</a:t>
            </a:r>
          </a:p>
        </p:txBody>
      </p:sp>
      <p:cxnSp>
        <p:nvCxnSpPr>
          <p:cNvPr id="5" name="Straight Arrow Connector 4"/>
          <p:cNvCxnSpPr/>
          <p:nvPr/>
        </p:nvCxnSpPr>
        <p:spPr>
          <a:xfrm flipV="1">
            <a:off x="1604682" y="846835"/>
            <a:ext cx="5248835" cy="1120588"/>
          </a:xfrm>
          <a:prstGeom prst="straightConnector1">
            <a:avLst/>
          </a:prstGeom>
          <a:ln>
            <a:tailEnd type="triangle"/>
          </a:ln>
        </p:spPr>
        <p:style>
          <a:lnRef idx="2">
            <a:schemeClr val="accent6"/>
          </a:lnRef>
          <a:fillRef idx="0">
            <a:schemeClr val="accent6"/>
          </a:fillRef>
          <a:effectRef idx="1">
            <a:schemeClr val="accent6"/>
          </a:effectRef>
          <a:fontRef idx="minor">
            <a:schemeClr val="tx1"/>
          </a:fontRef>
        </p:style>
      </p:cxnSp>
      <p:cxnSp>
        <p:nvCxnSpPr>
          <p:cNvPr id="6" name="Straight Arrow Connector 5"/>
          <p:cNvCxnSpPr/>
          <p:nvPr/>
        </p:nvCxnSpPr>
        <p:spPr>
          <a:xfrm flipV="1">
            <a:off x="2026023" y="1335411"/>
            <a:ext cx="4849906" cy="836369"/>
          </a:xfrm>
          <a:prstGeom prst="straightConnector1">
            <a:avLst/>
          </a:prstGeom>
          <a:ln>
            <a:tailEnd type="triangle"/>
          </a:ln>
        </p:spPr>
        <p:style>
          <a:lnRef idx="2">
            <a:schemeClr val="accent6"/>
          </a:lnRef>
          <a:fillRef idx="0">
            <a:schemeClr val="accent6"/>
          </a:fillRef>
          <a:effectRef idx="1">
            <a:schemeClr val="accent6"/>
          </a:effectRef>
          <a:fontRef idx="minor">
            <a:schemeClr val="tx1"/>
          </a:fontRef>
        </p:style>
      </p:cxnSp>
      <p:cxnSp>
        <p:nvCxnSpPr>
          <p:cNvPr id="8" name="Straight Arrow Connector 7"/>
          <p:cNvCxnSpPr/>
          <p:nvPr/>
        </p:nvCxnSpPr>
        <p:spPr>
          <a:xfrm flipV="1">
            <a:off x="1739152" y="2128788"/>
            <a:ext cx="5114365" cy="210670"/>
          </a:xfrm>
          <a:prstGeom prst="straightConnector1">
            <a:avLst/>
          </a:prstGeom>
          <a:ln>
            <a:tailEnd type="triangle"/>
          </a:ln>
        </p:spPr>
        <p:style>
          <a:lnRef idx="2">
            <a:schemeClr val="accent6"/>
          </a:lnRef>
          <a:fillRef idx="0">
            <a:schemeClr val="accent6"/>
          </a:fillRef>
          <a:effectRef idx="1">
            <a:schemeClr val="accent6"/>
          </a:effectRef>
          <a:fontRef idx="minor">
            <a:schemeClr val="tx1"/>
          </a:fontRef>
        </p:style>
      </p:cxnSp>
      <p:sp>
        <p:nvSpPr>
          <p:cNvPr id="11" name="Rectangle 10"/>
          <p:cNvSpPr/>
          <p:nvPr/>
        </p:nvSpPr>
        <p:spPr>
          <a:xfrm>
            <a:off x="3294528" y="3080294"/>
            <a:ext cx="2487706" cy="201705"/>
          </a:xfrm>
          <a:prstGeom prst="rect">
            <a:avLst/>
          </a:prstGeom>
          <a:noFill/>
          <a:ln w="28575">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p:cNvSpPr/>
          <p:nvPr/>
        </p:nvSpPr>
        <p:spPr>
          <a:xfrm>
            <a:off x="470646" y="3719028"/>
            <a:ext cx="9937377" cy="1200329"/>
          </a:xfrm>
          <a:prstGeom prst="rect">
            <a:avLst/>
          </a:prstGeom>
        </p:spPr>
        <p:txBody>
          <a:bodyPr wrap="square">
            <a:spAutoFit/>
          </a:bodyPr>
          <a:lstStyle/>
          <a:p>
            <a:pPr marL="285750" indent="-285750">
              <a:buFont typeface="Arial" panose="020B0604020202020204" pitchFamily="34" charset="0"/>
              <a:buChar char="•"/>
            </a:pPr>
            <a:r>
              <a:rPr lang="en-US" dirty="0">
                <a:latin typeface="Aptos" panose="020B0004020202020204" pitchFamily="34" charset="0"/>
              </a:rPr>
              <a:t>A very important thing to understand is that the estimates for the other categories are presented </a:t>
            </a:r>
            <a:r>
              <a:rPr lang="en-US" b="1" i="1" dirty="0">
                <a:latin typeface="Aptos" panose="020B0004020202020204" pitchFamily="34" charset="0"/>
              </a:rPr>
              <a:t>relative</a:t>
            </a:r>
            <a:r>
              <a:rPr lang="en-US" i="1" dirty="0">
                <a:latin typeface="Aptos" panose="020B0004020202020204" pitchFamily="34" charset="0"/>
              </a:rPr>
              <a:t> to</a:t>
            </a:r>
            <a:r>
              <a:rPr lang="en-US" dirty="0">
                <a:latin typeface="Aptos" panose="020B0004020202020204" pitchFamily="34" charset="0"/>
              </a:rPr>
              <a:t> the reference level</a:t>
            </a:r>
          </a:p>
          <a:p>
            <a:pPr marL="285750" indent="-285750">
              <a:buFont typeface="Arial" panose="020B0604020202020204" pitchFamily="34" charset="0"/>
              <a:buChar char="•"/>
            </a:pPr>
            <a:endParaRPr lang="en-US" dirty="0">
              <a:latin typeface="Aptos" panose="020B0004020202020204" pitchFamily="34" charset="0"/>
            </a:endParaRPr>
          </a:p>
          <a:p>
            <a:pPr marL="285750" indent="-285750">
              <a:buFont typeface="Arial" panose="020B0604020202020204" pitchFamily="34" charset="0"/>
              <a:buChar char="•"/>
            </a:pPr>
            <a:r>
              <a:rPr lang="en-US" dirty="0">
                <a:latin typeface="Aptos" panose="020B0004020202020204" pitchFamily="34" charset="0"/>
              </a:rPr>
              <a:t>So now, can we say this is a good model?</a:t>
            </a:r>
            <a:endParaRPr lang="en-IN" dirty="0">
              <a:latin typeface="Aptos" panose="020B0004020202020204" pitchFamily="34" charset="0"/>
            </a:endParaRPr>
          </a:p>
        </p:txBody>
      </p:sp>
    </p:spTree>
    <p:extLst>
      <p:ext uri="{BB962C8B-B14F-4D97-AF65-F5344CB8AC3E}">
        <p14:creationId xmlns:p14="http://schemas.microsoft.com/office/powerpoint/2010/main" val="1752036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21523" y="981633"/>
            <a:ext cx="4283895" cy="4283895"/>
          </a:xfrm>
          <a:prstGeom prst="rect">
            <a:avLst/>
          </a:prstGeom>
        </p:spPr>
      </p:pic>
      <p:sp>
        <p:nvSpPr>
          <p:cNvPr id="6" name="Rectangle 5"/>
          <p:cNvSpPr/>
          <p:nvPr/>
        </p:nvSpPr>
        <p:spPr>
          <a:xfrm>
            <a:off x="2348136" y="148882"/>
            <a:ext cx="7830670" cy="461665"/>
          </a:xfrm>
          <a:prstGeom prst="rect">
            <a:avLst/>
          </a:prstGeom>
        </p:spPr>
        <p:txBody>
          <a:bodyPr wrap="square">
            <a:spAutoFit/>
          </a:bodyPr>
          <a:lstStyle/>
          <a:p>
            <a:pPr algn="ctr"/>
            <a:r>
              <a:rPr lang="en-US" sz="2400" b="1" dirty="0">
                <a:latin typeface="Aptos" panose="020B0004020202020204" pitchFamily="34" charset="0"/>
              </a:rPr>
              <a:t>Does Species predict Body mass of palmer penguins?</a:t>
            </a:r>
            <a:endParaRPr lang="en-IN" sz="2400" b="1" dirty="0">
              <a:latin typeface="Aptos" panose="020B0004020202020204" pitchFamily="34" charset="0"/>
            </a:endParaRPr>
          </a:p>
        </p:txBody>
      </p:sp>
      <p:sp>
        <p:nvSpPr>
          <p:cNvPr id="4" name="Rectangle 3"/>
          <p:cNvSpPr/>
          <p:nvPr/>
        </p:nvSpPr>
        <p:spPr>
          <a:xfrm>
            <a:off x="640975" y="5424611"/>
            <a:ext cx="9937377" cy="923330"/>
          </a:xfrm>
          <a:prstGeom prst="rect">
            <a:avLst/>
          </a:prstGeom>
        </p:spPr>
        <p:txBody>
          <a:bodyPr wrap="square">
            <a:spAutoFit/>
          </a:bodyPr>
          <a:lstStyle/>
          <a:p>
            <a:pPr marL="285750" indent="-285750">
              <a:buFont typeface="Arial" panose="020B0604020202020204" pitchFamily="34" charset="0"/>
              <a:buChar char="•"/>
            </a:pPr>
            <a:r>
              <a:rPr lang="en-US" dirty="0">
                <a:latin typeface="Aptos" panose="020B0004020202020204" pitchFamily="34" charset="0"/>
              </a:rPr>
              <a:t>We want to know if each species of penguins differ in their body weights and if so, how much?</a:t>
            </a:r>
          </a:p>
          <a:p>
            <a:pPr marL="285750" indent="-285750">
              <a:buFont typeface="Arial" panose="020B0604020202020204" pitchFamily="34" charset="0"/>
              <a:buChar char="•"/>
            </a:pPr>
            <a:endParaRPr lang="en-US" dirty="0">
              <a:latin typeface="Aptos" panose="020B0004020202020204" pitchFamily="34" charset="0"/>
            </a:endParaRPr>
          </a:p>
          <a:p>
            <a:pPr marL="285750" indent="-285750">
              <a:buFont typeface="Arial" panose="020B0604020202020204" pitchFamily="34" charset="0"/>
              <a:buChar char="•"/>
            </a:pPr>
            <a:r>
              <a:rPr lang="en-US" dirty="0">
                <a:latin typeface="Aptos" panose="020B0004020202020204" pitchFamily="34" charset="0"/>
              </a:rPr>
              <a:t>There could be lot many other aspects that determines body weight which is beyond species</a:t>
            </a:r>
            <a:endParaRPr lang="en-IN" dirty="0">
              <a:latin typeface="Aptos" panose="020B0004020202020204" pitchFamily="34" charset="0"/>
            </a:endParaRPr>
          </a:p>
        </p:txBody>
      </p:sp>
    </p:spTree>
    <p:extLst>
      <p:ext uri="{BB962C8B-B14F-4D97-AF65-F5344CB8AC3E}">
        <p14:creationId xmlns:p14="http://schemas.microsoft.com/office/powerpoint/2010/main" val="31206932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47495" y="1258459"/>
            <a:ext cx="6216596" cy="3025994"/>
          </a:xfrm>
          <a:prstGeom prst="rect">
            <a:avLst/>
          </a:prstGeom>
        </p:spPr>
      </p:pic>
      <p:sp>
        <p:nvSpPr>
          <p:cNvPr id="3" name="TextBox 2"/>
          <p:cNvSpPr txBox="1"/>
          <p:nvPr/>
        </p:nvSpPr>
        <p:spPr>
          <a:xfrm>
            <a:off x="6535272" y="560295"/>
            <a:ext cx="5387788" cy="5632311"/>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Aptos" panose="020B0004020202020204" pitchFamily="34" charset="0"/>
              </a:rPr>
              <a:t>Expected body mass for an </a:t>
            </a:r>
            <a:r>
              <a:rPr lang="en-US" dirty="0" err="1">
                <a:latin typeface="Aptos" panose="020B0004020202020204" pitchFamily="34" charset="0"/>
              </a:rPr>
              <a:t>Adelie</a:t>
            </a:r>
            <a:r>
              <a:rPr lang="en-US" dirty="0">
                <a:latin typeface="Aptos" panose="020B0004020202020204" pitchFamily="34" charset="0"/>
              </a:rPr>
              <a:t> with flipper length </a:t>
            </a:r>
            <a:r>
              <a:rPr lang="en-US" b="1" dirty="0">
                <a:latin typeface="Aptos" panose="020B0004020202020204" pitchFamily="34" charset="0"/>
              </a:rPr>
              <a:t>0 mm</a:t>
            </a:r>
          </a:p>
          <a:p>
            <a:pPr marL="285750" indent="-285750">
              <a:buFont typeface="Arial" panose="020B0604020202020204" pitchFamily="34" charset="0"/>
              <a:buChar char="•"/>
            </a:pPr>
            <a:r>
              <a:rPr lang="en-US" dirty="0">
                <a:latin typeface="Aptos" panose="020B0004020202020204" pitchFamily="34" charset="0"/>
              </a:rPr>
              <a:t>For each 1 mm </a:t>
            </a:r>
            <a:r>
              <a:rPr lang="en-US" dirty="0">
                <a:solidFill>
                  <a:srgbClr val="C00000"/>
                </a:solidFill>
                <a:latin typeface="Aptos" panose="020B0004020202020204" pitchFamily="34" charset="0"/>
              </a:rPr>
              <a:t>increase</a:t>
            </a:r>
            <a:r>
              <a:rPr lang="en-US" dirty="0">
                <a:latin typeface="Aptos" panose="020B0004020202020204" pitchFamily="34" charset="0"/>
              </a:rPr>
              <a:t> in flipper length, body mass </a:t>
            </a:r>
            <a:r>
              <a:rPr lang="en-US" dirty="0">
                <a:solidFill>
                  <a:srgbClr val="C00000"/>
                </a:solidFill>
                <a:latin typeface="Aptos" panose="020B0004020202020204" pitchFamily="34" charset="0"/>
              </a:rPr>
              <a:t>increases</a:t>
            </a:r>
            <a:r>
              <a:rPr lang="en-US" dirty="0">
                <a:latin typeface="Aptos" panose="020B0004020202020204" pitchFamily="34" charset="0"/>
              </a:rPr>
              <a:t> by about </a:t>
            </a:r>
            <a:r>
              <a:rPr lang="en-US" b="1" dirty="0">
                <a:latin typeface="Aptos" panose="020B0004020202020204" pitchFamily="34" charset="0"/>
              </a:rPr>
              <a:t>40.7 g</a:t>
            </a:r>
            <a:r>
              <a:rPr lang="en-US" dirty="0">
                <a:latin typeface="Aptos" panose="020B0004020202020204" pitchFamily="34" charset="0"/>
              </a:rPr>
              <a:t>, holding species </a:t>
            </a:r>
            <a:r>
              <a:rPr lang="en-US" b="1" dirty="0">
                <a:latin typeface="Aptos" panose="020B0004020202020204" pitchFamily="34" charset="0"/>
              </a:rPr>
              <a:t>constant</a:t>
            </a:r>
          </a:p>
          <a:p>
            <a:pPr marL="285750" indent="-285750">
              <a:buFont typeface="Arial" panose="020B0604020202020204" pitchFamily="34" charset="0"/>
              <a:buChar char="•"/>
            </a:pPr>
            <a:r>
              <a:rPr lang="en-US" dirty="0">
                <a:latin typeface="Aptos" panose="020B0004020202020204" pitchFamily="34" charset="0"/>
              </a:rPr>
              <a:t>Chinstraps are about </a:t>
            </a:r>
            <a:r>
              <a:rPr lang="en-US" b="1" dirty="0">
                <a:latin typeface="Aptos" panose="020B0004020202020204" pitchFamily="34" charset="0"/>
              </a:rPr>
              <a:t>207 g</a:t>
            </a:r>
            <a:r>
              <a:rPr lang="en-US" dirty="0">
                <a:latin typeface="Aptos" panose="020B0004020202020204" pitchFamily="34" charset="0"/>
              </a:rPr>
              <a:t> </a:t>
            </a:r>
            <a:r>
              <a:rPr lang="en-US" b="1" dirty="0">
                <a:solidFill>
                  <a:srgbClr val="0070C0"/>
                </a:solidFill>
                <a:latin typeface="Aptos" panose="020B0004020202020204" pitchFamily="34" charset="0"/>
              </a:rPr>
              <a:t>lighter</a:t>
            </a:r>
            <a:r>
              <a:rPr lang="en-US" dirty="0">
                <a:latin typeface="Aptos" panose="020B0004020202020204" pitchFamily="34" charset="0"/>
              </a:rPr>
              <a:t> than </a:t>
            </a:r>
            <a:r>
              <a:rPr lang="en-US" dirty="0" err="1">
                <a:latin typeface="Aptos" panose="020B0004020202020204" pitchFamily="34" charset="0"/>
              </a:rPr>
              <a:t>Adelies</a:t>
            </a:r>
            <a:r>
              <a:rPr lang="en-US" dirty="0">
                <a:latin typeface="Aptos" panose="020B0004020202020204" pitchFamily="34" charset="0"/>
              </a:rPr>
              <a:t> with the same flipper length.</a:t>
            </a:r>
          </a:p>
          <a:p>
            <a:pPr marL="285750" indent="-285750">
              <a:buFont typeface="Arial" panose="020B0604020202020204" pitchFamily="34" charset="0"/>
              <a:buChar char="•"/>
            </a:pPr>
            <a:r>
              <a:rPr lang="en-US" b="1" dirty="0">
                <a:latin typeface="Aptos" panose="020B0004020202020204" pitchFamily="34" charset="0"/>
              </a:rPr>
              <a:t>Note</a:t>
            </a:r>
            <a:r>
              <a:rPr lang="en-US" dirty="0">
                <a:latin typeface="Aptos" panose="020B0004020202020204" pitchFamily="34" charset="0"/>
              </a:rPr>
              <a:t>: In the species-only model, Chinstraps were </a:t>
            </a:r>
            <a:r>
              <a:rPr lang="en-US" dirty="0">
                <a:solidFill>
                  <a:srgbClr val="C00000"/>
                </a:solidFill>
                <a:latin typeface="Aptos" panose="020B0004020202020204" pitchFamily="34" charset="0"/>
              </a:rPr>
              <a:t>heavier</a:t>
            </a:r>
            <a:r>
              <a:rPr lang="en-US" dirty="0">
                <a:latin typeface="Aptos" panose="020B0004020202020204" pitchFamily="34" charset="0"/>
              </a:rPr>
              <a:t> </a:t>
            </a:r>
            <a:r>
              <a:rPr lang="en-US" b="1" dirty="0">
                <a:latin typeface="Aptos" panose="020B0004020202020204" pitchFamily="34" charset="0"/>
              </a:rPr>
              <a:t>(+32 g</a:t>
            </a:r>
            <a:r>
              <a:rPr lang="en-US" dirty="0">
                <a:latin typeface="Aptos" panose="020B0004020202020204" pitchFamily="34" charset="0"/>
              </a:rPr>
              <a:t>) than </a:t>
            </a:r>
            <a:r>
              <a:rPr lang="en-US" dirty="0" err="1">
                <a:latin typeface="Aptos" panose="020B0004020202020204" pitchFamily="34" charset="0"/>
              </a:rPr>
              <a:t>Adelies,but</a:t>
            </a:r>
            <a:r>
              <a:rPr lang="en-US" dirty="0">
                <a:latin typeface="Aptos" panose="020B0004020202020204" pitchFamily="34" charset="0"/>
              </a:rPr>
              <a:t> here they’re lighter.</a:t>
            </a:r>
          </a:p>
          <a:p>
            <a:pPr marL="285750" indent="-285750">
              <a:buFont typeface="Arial" panose="020B0604020202020204" pitchFamily="34" charset="0"/>
              <a:buChar char="•"/>
            </a:pPr>
            <a:r>
              <a:rPr lang="en-US" dirty="0">
                <a:latin typeface="Aptos" panose="020B0004020202020204" pitchFamily="34" charset="0"/>
              </a:rPr>
              <a:t>That’s because flipper length was a </a:t>
            </a:r>
            <a:r>
              <a:rPr lang="en-US" b="1" dirty="0">
                <a:latin typeface="Aptos" panose="020B0004020202020204" pitchFamily="34" charset="0"/>
              </a:rPr>
              <a:t>confounder</a:t>
            </a:r>
          </a:p>
          <a:p>
            <a:pPr marL="285750" indent="-285750">
              <a:buFont typeface="Arial" panose="020B0604020202020204" pitchFamily="34" charset="0"/>
              <a:buChar char="•"/>
            </a:pPr>
            <a:r>
              <a:rPr lang="en-US" dirty="0">
                <a:latin typeface="Aptos" panose="020B0004020202020204" pitchFamily="34" charset="0"/>
              </a:rPr>
              <a:t>Chinstraps have longer flippers, which inflated their mean mass when flipper length wasn’t accounted for</a:t>
            </a:r>
          </a:p>
          <a:p>
            <a:pPr marL="285750" indent="-285750">
              <a:buFont typeface="Arial" panose="020B0604020202020204" pitchFamily="34" charset="0"/>
              <a:buChar char="•"/>
            </a:pPr>
            <a:r>
              <a:rPr lang="en-US" dirty="0" err="1">
                <a:latin typeface="Aptos" panose="020B0004020202020204" pitchFamily="34" charset="0"/>
              </a:rPr>
              <a:t>Gentoos</a:t>
            </a:r>
            <a:r>
              <a:rPr lang="en-US" dirty="0">
                <a:latin typeface="Aptos" panose="020B0004020202020204" pitchFamily="34" charset="0"/>
              </a:rPr>
              <a:t> are about </a:t>
            </a:r>
            <a:r>
              <a:rPr lang="en-US" b="1" dirty="0">
                <a:latin typeface="Aptos" panose="020B0004020202020204" pitchFamily="34" charset="0"/>
              </a:rPr>
              <a:t>267 g</a:t>
            </a:r>
            <a:r>
              <a:rPr lang="en-US" dirty="0">
                <a:latin typeface="Aptos" panose="020B0004020202020204" pitchFamily="34" charset="0"/>
              </a:rPr>
              <a:t> </a:t>
            </a:r>
            <a:r>
              <a:rPr lang="en-US" dirty="0">
                <a:solidFill>
                  <a:srgbClr val="C00000"/>
                </a:solidFill>
                <a:latin typeface="Aptos" panose="020B0004020202020204" pitchFamily="34" charset="0"/>
              </a:rPr>
              <a:t>heavier</a:t>
            </a:r>
            <a:r>
              <a:rPr lang="en-US" dirty="0">
                <a:latin typeface="Aptos" panose="020B0004020202020204" pitchFamily="34" charset="0"/>
              </a:rPr>
              <a:t> than </a:t>
            </a:r>
            <a:r>
              <a:rPr lang="en-US" dirty="0" err="1">
                <a:latin typeface="Aptos" panose="020B0004020202020204" pitchFamily="34" charset="0"/>
              </a:rPr>
              <a:t>Adelies</a:t>
            </a:r>
            <a:r>
              <a:rPr lang="en-US" dirty="0">
                <a:latin typeface="Aptos" panose="020B0004020202020204" pitchFamily="34" charset="0"/>
              </a:rPr>
              <a:t> with the same flipper length</a:t>
            </a:r>
          </a:p>
          <a:p>
            <a:pPr marL="285750" indent="-285750">
              <a:buFont typeface="Arial" panose="020B0604020202020204" pitchFamily="34" charset="0"/>
              <a:buChar char="•"/>
            </a:pPr>
            <a:r>
              <a:rPr lang="en-US" dirty="0">
                <a:latin typeface="Aptos" panose="020B0004020202020204" pitchFamily="34" charset="0"/>
              </a:rPr>
              <a:t>In the species-only model, </a:t>
            </a:r>
            <a:r>
              <a:rPr lang="en-US" dirty="0" err="1">
                <a:latin typeface="Aptos" panose="020B0004020202020204" pitchFamily="34" charset="0"/>
              </a:rPr>
              <a:t>Gentoos</a:t>
            </a:r>
            <a:r>
              <a:rPr lang="en-US" dirty="0">
                <a:latin typeface="Aptos" panose="020B0004020202020204" pitchFamily="34" charset="0"/>
              </a:rPr>
              <a:t> were </a:t>
            </a:r>
            <a:r>
              <a:rPr lang="en-US" b="1" dirty="0">
                <a:latin typeface="Aptos" panose="020B0004020202020204" pitchFamily="34" charset="0"/>
              </a:rPr>
              <a:t>+1,375 g </a:t>
            </a:r>
            <a:r>
              <a:rPr lang="en-US" dirty="0">
                <a:solidFill>
                  <a:srgbClr val="C00000"/>
                </a:solidFill>
                <a:latin typeface="Aptos" panose="020B0004020202020204" pitchFamily="34" charset="0"/>
              </a:rPr>
              <a:t>heavier</a:t>
            </a:r>
          </a:p>
          <a:p>
            <a:pPr marL="285750" indent="-285750">
              <a:buFont typeface="Arial" panose="020B0604020202020204" pitchFamily="34" charset="0"/>
              <a:buChar char="•"/>
            </a:pPr>
            <a:r>
              <a:rPr lang="en-US" dirty="0">
                <a:latin typeface="Aptos" panose="020B0004020202020204" pitchFamily="34" charset="0"/>
              </a:rPr>
              <a:t>Adding flipper length explains most of that difference</a:t>
            </a:r>
          </a:p>
        </p:txBody>
      </p:sp>
    </p:spTree>
    <p:extLst>
      <p:ext uri="{BB962C8B-B14F-4D97-AF65-F5344CB8AC3E}">
        <p14:creationId xmlns:p14="http://schemas.microsoft.com/office/powerpoint/2010/main" val="2844535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61681" y="148882"/>
            <a:ext cx="11438965" cy="461665"/>
          </a:xfrm>
          <a:prstGeom prst="rect">
            <a:avLst/>
          </a:prstGeom>
        </p:spPr>
        <p:txBody>
          <a:bodyPr wrap="square">
            <a:spAutoFit/>
          </a:bodyPr>
          <a:lstStyle/>
          <a:p>
            <a:pPr algn="ctr"/>
            <a:r>
              <a:rPr lang="en-US" sz="2400" b="1" dirty="0">
                <a:latin typeface="Aptos" panose="020B0004020202020204" pitchFamily="34" charset="0"/>
              </a:rPr>
              <a:t>Type III ANOVA vs Type I ANOVA</a:t>
            </a:r>
            <a:endParaRPr lang="en-IN" sz="2400" b="1" dirty="0">
              <a:latin typeface="Aptos" panose="020B0004020202020204" pitchFamily="34" charset="0"/>
            </a:endParaRPr>
          </a:p>
        </p:txBody>
      </p:sp>
    </p:spTree>
    <p:extLst>
      <p:ext uri="{BB962C8B-B14F-4D97-AF65-F5344CB8AC3E}">
        <p14:creationId xmlns:p14="http://schemas.microsoft.com/office/powerpoint/2010/main" val="34112254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B4548-63B1-63F9-A1F1-4622DAA7009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8DF86E64-AF72-E402-F83E-CCE4E6F43F4A}"/>
              </a:ext>
            </a:extLst>
          </p:cNvPr>
          <p:cNvSpPr/>
          <p:nvPr/>
        </p:nvSpPr>
        <p:spPr>
          <a:xfrm>
            <a:off x="461681" y="148882"/>
            <a:ext cx="11438965" cy="461665"/>
          </a:xfrm>
          <a:prstGeom prst="rect">
            <a:avLst/>
          </a:prstGeom>
        </p:spPr>
        <p:txBody>
          <a:bodyPr wrap="square">
            <a:spAutoFit/>
          </a:bodyPr>
          <a:lstStyle/>
          <a:p>
            <a:pPr algn="ctr"/>
            <a:r>
              <a:rPr lang="en-US" sz="2400" b="1" dirty="0">
                <a:latin typeface="Aptos" panose="020B0004020202020204" pitchFamily="34" charset="0"/>
              </a:rPr>
              <a:t>Contrast Coding</a:t>
            </a:r>
            <a:endParaRPr lang="en-IN" sz="2400" b="1" dirty="0">
              <a:latin typeface="Aptos" panose="020B0004020202020204" pitchFamily="34" charset="0"/>
            </a:endParaRPr>
          </a:p>
        </p:txBody>
      </p:sp>
    </p:spTree>
    <p:extLst>
      <p:ext uri="{BB962C8B-B14F-4D97-AF65-F5344CB8AC3E}">
        <p14:creationId xmlns:p14="http://schemas.microsoft.com/office/powerpoint/2010/main" val="2470172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D725B-7024-22F0-4D8F-23F3B3F1481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0E901EA-5C0D-938F-FC31-3D7879579E6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90047" y="887506"/>
            <a:ext cx="5400000" cy="5400000"/>
          </a:xfrm>
          <a:prstGeom prst="rect">
            <a:avLst/>
          </a:prstGeom>
        </p:spPr>
      </p:pic>
      <p:sp>
        <p:nvSpPr>
          <p:cNvPr id="3" name="Rectangle 2">
            <a:extLst>
              <a:ext uri="{FF2B5EF4-FFF2-40B4-BE49-F238E27FC236}">
                <a16:creationId xmlns:a16="http://schemas.microsoft.com/office/drawing/2014/main" id="{891CBB16-59C8-E829-648B-31C15EC0C04E}"/>
              </a:ext>
            </a:extLst>
          </p:cNvPr>
          <p:cNvSpPr/>
          <p:nvPr/>
        </p:nvSpPr>
        <p:spPr>
          <a:xfrm>
            <a:off x="461681" y="148882"/>
            <a:ext cx="11438965" cy="461665"/>
          </a:xfrm>
          <a:prstGeom prst="rect">
            <a:avLst/>
          </a:prstGeom>
        </p:spPr>
        <p:txBody>
          <a:bodyPr wrap="square">
            <a:spAutoFit/>
          </a:bodyPr>
          <a:lstStyle/>
          <a:p>
            <a:pPr algn="ctr"/>
            <a:r>
              <a:rPr lang="en-US" sz="2400" b="1" dirty="0">
                <a:latin typeface="Aptos" panose="020B0004020202020204" pitchFamily="34" charset="0"/>
              </a:rPr>
              <a:t>Should we bother about flipper length as well?</a:t>
            </a:r>
            <a:endParaRPr lang="en-IN" sz="2400" b="1" dirty="0">
              <a:latin typeface="Aptos" panose="020B0004020202020204" pitchFamily="34" charset="0"/>
            </a:endParaRPr>
          </a:p>
        </p:txBody>
      </p:sp>
    </p:spTree>
    <p:extLst>
      <p:ext uri="{BB962C8B-B14F-4D97-AF65-F5344CB8AC3E}">
        <p14:creationId xmlns:p14="http://schemas.microsoft.com/office/powerpoint/2010/main" val="21782583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9C3F4-9DF9-F668-4A28-DFDA48F6553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922A5C2-67D8-E7FF-8D33-CD0BFC1EC6EE}"/>
              </a:ext>
            </a:extLst>
          </p:cNvPr>
          <p:cNvSpPr/>
          <p:nvPr/>
        </p:nvSpPr>
        <p:spPr>
          <a:xfrm>
            <a:off x="461681" y="148882"/>
            <a:ext cx="11438965" cy="461665"/>
          </a:xfrm>
          <a:prstGeom prst="rect">
            <a:avLst/>
          </a:prstGeom>
        </p:spPr>
        <p:txBody>
          <a:bodyPr wrap="square">
            <a:spAutoFit/>
          </a:bodyPr>
          <a:lstStyle/>
          <a:p>
            <a:pPr algn="ctr"/>
            <a:r>
              <a:rPr lang="en-US" sz="2400" b="1" dirty="0">
                <a:latin typeface="Aptos" panose="020B0004020202020204" pitchFamily="34" charset="0"/>
              </a:rPr>
              <a:t>Multiple Regression with Interaction Effects</a:t>
            </a:r>
            <a:endParaRPr lang="en-IN" sz="2400" b="1" dirty="0">
              <a:latin typeface="Aptos" panose="020B0004020202020204" pitchFamily="34" charset="0"/>
            </a:endParaRPr>
          </a:p>
        </p:txBody>
      </p:sp>
      <p:sp>
        <p:nvSpPr>
          <p:cNvPr id="4" name="TextBox 3">
            <a:extLst>
              <a:ext uri="{FF2B5EF4-FFF2-40B4-BE49-F238E27FC236}">
                <a16:creationId xmlns:a16="http://schemas.microsoft.com/office/drawing/2014/main" id="{3DBE40D1-0D1B-3D46-CE86-5DC59290E2C7}"/>
              </a:ext>
            </a:extLst>
          </p:cNvPr>
          <p:cNvSpPr txBox="1"/>
          <p:nvPr/>
        </p:nvSpPr>
        <p:spPr>
          <a:xfrm>
            <a:off x="387513" y="1187148"/>
            <a:ext cx="11321407" cy="971292"/>
          </a:xfrm>
          <a:prstGeom prst="rect">
            <a:avLst/>
          </a:prstGeom>
          <a:noFill/>
        </p:spPr>
        <p:txBody>
          <a:bodyPr wrap="square" rtlCol="0">
            <a:spAutoFit/>
          </a:bodyPr>
          <a:lstStyle/>
          <a:p>
            <a:pPr algn="ctr">
              <a:lnSpc>
                <a:spcPct val="150000"/>
              </a:lnSpc>
            </a:pPr>
            <a:r>
              <a:rPr lang="en-US" sz="2000" dirty="0">
                <a:latin typeface="Aptos" panose="020B0004020202020204" pitchFamily="34" charset="0"/>
              </a:rPr>
              <a:t>"Are male penguins' flippers longer than female penguins' flippers?" and your most accurate answer is, "Well, </a:t>
            </a:r>
            <a:r>
              <a:rPr lang="en-US" sz="2000" b="1" dirty="0">
                <a:latin typeface="Aptos" panose="020B0004020202020204" pitchFamily="34" charset="0"/>
              </a:rPr>
              <a:t>it depends </a:t>
            </a:r>
            <a:r>
              <a:rPr lang="en-US" sz="2000" dirty="0">
                <a:latin typeface="Aptos" panose="020B0004020202020204" pitchFamily="34" charset="0"/>
              </a:rPr>
              <a:t>on which species you are looking at," then you have an </a:t>
            </a:r>
            <a:r>
              <a:rPr lang="en-US" sz="2000" b="1" dirty="0">
                <a:latin typeface="Aptos" panose="020B0004020202020204" pitchFamily="34" charset="0"/>
              </a:rPr>
              <a:t>interaction</a:t>
            </a:r>
            <a:r>
              <a:rPr lang="en-US" sz="2000" dirty="0">
                <a:latin typeface="Aptos" panose="020B0004020202020204" pitchFamily="34" charset="0"/>
              </a:rPr>
              <a:t> effect!</a:t>
            </a:r>
          </a:p>
        </p:txBody>
      </p:sp>
      <p:sp>
        <p:nvSpPr>
          <p:cNvPr id="6" name="TextBox 5">
            <a:extLst>
              <a:ext uri="{FF2B5EF4-FFF2-40B4-BE49-F238E27FC236}">
                <a16:creationId xmlns:a16="http://schemas.microsoft.com/office/drawing/2014/main" id="{1E72B0CF-6D66-447B-9B89-01D2C972C63F}"/>
              </a:ext>
            </a:extLst>
          </p:cNvPr>
          <p:cNvSpPr txBox="1"/>
          <p:nvPr/>
        </p:nvSpPr>
        <p:spPr>
          <a:xfrm>
            <a:off x="1449237" y="2652947"/>
            <a:ext cx="9293525" cy="707886"/>
          </a:xfrm>
          <a:prstGeom prst="rect">
            <a:avLst/>
          </a:prstGeom>
          <a:noFill/>
        </p:spPr>
        <p:txBody>
          <a:bodyPr wrap="square">
            <a:spAutoFit/>
          </a:bodyPr>
          <a:lstStyle/>
          <a:p>
            <a:pPr algn="ctr"/>
            <a:r>
              <a:rPr lang="en-US" sz="2000" dirty="0">
                <a:latin typeface="Aptos" panose="020B0004020202020204" pitchFamily="34" charset="0"/>
              </a:rPr>
              <a:t>The two variables act like chemical compounds combining them creates a </a:t>
            </a:r>
            <a:r>
              <a:rPr lang="en-US" sz="2000" b="1" dirty="0">
                <a:latin typeface="Aptos" panose="020B0004020202020204" pitchFamily="34" charset="0"/>
              </a:rPr>
              <a:t>different</a:t>
            </a:r>
            <a:r>
              <a:rPr lang="en-US" sz="2000" dirty="0">
                <a:latin typeface="Aptos" panose="020B0004020202020204" pitchFamily="34" charset="0"/>
              </a:rPr>
              <a:t> result than just adding them together</a:t>
            </a:r>
            <a:r>
              <a:rPr lang="en-US" sz="2000" dirty="0"/>
              <a:t>.</a:t>
            </a:r>
            <a:endParaRPr lang="en-IN" sz="2000" dirty="0"/>
          </a:p>
        </p:txBody>
      </p:sp>
    </p:spTree>
    <p:extLst>
      <p:ext uri="{BB962C8B-B14F-4D97-AF65-F5344CB8AC3E}">
        <p14:creationId xmlns:p14="http://schemas.microsoft.com/office/powerpoint/2010/main" val="20457056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9C3F4-9DF9-F668-4A28-DFDA48F6553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922A5C2-67D8-E7FF-8D33-CD0BFC1EC6EE}"/>
              </a:ext>
            </a:extLst>
          </p:cNvPr>
          <p:cNvSpPr/>
          <p:nvPr/>
        </p:nvSpPr>
        <p:spPr>
          <a:xfrm>
            <a:off x="461681" y="148882"/>
            <a:ext cx="11438965" cy="461665"/>
          </a:xfrm>
          <a:prstGeom prst="rect">
            <a:avLst/>
          </a:prstGeom>
        </p:spPr>
        <p:txBody>
          <a:bodyPr wrap="square">
            <a:spAutoFit/>
          </a:bodyPr>
          <a:lstStyle/>
          <a:p>
            <a:pPr algn="ctr"/>
            <a:r>
              <a:rPr lang="en-US" sz="2400" b="1" dirty="0">
                <a:latin typeface="Aptos" panose="020B0004020202020204" pitchFamily="34" charset="0"/>
              </a:rPr>
              <a:t>Covariance</a:t>
            </a:r>
            <a:endParaRPr lang="en-IN" sz="2400" b="1" dirty="0">
              <a:latin typeface="Aptos" panose="020B0004020202020204" pitchFamily="34" charset="0"/>
            </a:endParaRPr>
          </a:p>
        </p:txBody>
      </p:sp>
      <p:sp>
        <p:nvSpPr>
          <p:cNvPr id="6" name="TextBox 5">
            <a:extLst>
              <a:ext uri="{FF2B5EF4-FFF2-40B4-BE49-F238E27FC236}">
                <a16:creationId xmlns:a16="http://schemas.microsoft.com/office/drawing/2014/main" id="{1E72B0CF-6D66-447B-9B89-01D2C972C63F}"/>
              </a:ext>
            </a:extLst>
          </p:cNvPr>
          <p:cNvSpPr txBox="1"/>
          <p:nvPr/>
        </p:nvSpPr>
        <p:spPr>
          <a:xfrm>
            <a:off x="1314766" y="5817488"/>
            <a:ext cx="9293525" cy="707886"/>
          </a:xfrm>
          <a:prstGeom prst="rect">
            <a:avLst/>
          </a:prstGeom>
          <a:noFill/>
        </p:spPr>
        <p:txBody>
          <a:bodyPr wrap="square">
            <a:spAutoFit/>
          </a:bodyPr>
          <a:lstStyle/>
          <a:p>
            <a:pPr algn="ctr"/>
            <a:r>
              <a:rPr lang="en-US" sz="2000" dirty="0">
                <a:latin typeface="Aptos" panose="020B0004020202020204" pitchFamily="34" charset="0"/>
              </a:rPr>
              <a:t>The two variables act like chemical compounds combining them creates a </a:t>
            </a:r>
            <a:r>
              <a:rPr lang="en-US" sz="2000" b="1" dirty="0">
                <a:latin typeface="Aptos" panose="020B0004020202020204" pitchFamily="34" charset="0"/>
              </a:rPr>
              <a:t>different</a:t>
            </a:r>
            <a:r>
              <a:rPr lang="en-US" sz="2000" dirty="0">
                <a:latin typeface="Aptos" panose="020B0004020202020204" pitchFamily="34" charset="0"/>
              </a:rPr>
              <a:t> result than just adding them together</a:t>
            </a:r>
            <a:r>
              <a:rPr lang="en-US" sz="2000" dirty="0"/>
              <a:t>.</a:t>
            </a:r>
            <a:endParaRPr lang="en-IN" sz="2000" dirty="0"/>
          </a:p>
        </p:txBody>
      </p:sp>
      <p:pic>
        <p:nvPicPr>
          <p:cNvPr id="2" name="Picture 1"/>
          <p:cNvPicPr>
            <a:picLocks noChangeAspect="1"/>
          </p:cNvPicPr>
          <p:nvPr/>
        </p:nvPicPr>
        <p:blipFill>
          <a:blip r:embed="rId2"/>
          <a:stretch>
            <a:fillRect/>
          </a:stretch>
        </p:blipFill>
        <p:spPr>
          <a:xfrm>
            <a:off x="81943" y="1013012"/>
            <a:ext cx="5738174" cy="4764448"/>
          </a:xfrm>
          <a:prstGeom prst="rect">
            <a:avLst/>
          </a:prstGeom>
        </p:spPr>
      </p:pic>
    </p:spTree>
    <p:extLst>
      <p:ext uri="{BB962C8B-B14F-4D97-AF65-F5344CB8AC3E}">
        <p14:creationId xmlns:p14="http://schemas.microsoft.com/office/powerpoint/2010/main" val="2507756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5C698-1C44-1D46-EEEF-6FCA66990C6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B96CCE5-39EE-C6B0-A8DE-892A32A8DE73}"/>
              </a:ext>
            </a:extLst>
          </p:cNvPr>
          <p:cNvSpPr/>
          <p:nvPr/>
        </p:nvSpPr>
        <p:spPr>
          <a:xfrm>
            <a:off x="461681" y="148882"/>
            <a:ext cx="11438965" cy="461665"/>
          </a:xfrm>
          <a:prstGeom prst="rect">
            <a:avLst/>
          </a:prstGeom>
        </p:spPr>
        <p:txBody>
          <a:bodyPr wrap="square">
            <a:spAutoFit/>
          </a:bodyPr>
          <a:lstStyle/>
          <a:p>
            <a:pPr algn="ctr"/>
            <a:r>
              <a:rPr lang="en-US" sz="2400" b="1" dirty="0">
                <a:latin typeface="Aptos" panose="020B0004020202020204" pitchFamily="34" charset="0"/>
              </a:rPr>
              <a:t>Sleep Deprivation and Reaction Times</a:t>
            </a:r>
            <a:endParaRPr lang="en-IN" sz="2400" b="1" dirty="0">
              <a:latin typeface="Aptos" panose="020B0004020202020204" pitchFamily="34" charset="0"/>
            </a:endParaRPr>
          </a:p>
        </p:txBody>
      </p:sp>
      <p:pic>
        <p:nvPicPr>
          <p:cNvPr id="1026" name="Picture 2" descr="Trellis plot of reaction time by days of sleep deprivation.">
            <a:extLst>
              <a:ext uri="{FF2B5EF4-FFF2-40B4-BE49-F238E27FC236}">
                <a16:creationId xmlns:a16="http://schemas.microsoft.com/office/drawing/2014/main" id="{93800260-167F-2DE2-1364-1D554CBBF6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3133" y="852881"/>
            <a:ext cx="6506930" cy="585623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9393A25-B3EC-8103-81E5-9F17187D4BB1}"/>
              </a:ext>
            </a:extLst>
          </p:cNvPr>
          <p:cNvSpPr txBox="1"/>
          <p:nvPr/>
        </p:nvSpPr>
        <p:spPr>
          <a:xfrm rot="18689909">
            <a:off x="-850333" y="1327919"/>
            <a:ext cx="6820142" cy="1323439"/>
          </a:xfrm>
          <a:prstGeom prst="rect">
            <a:avLst/>
          </a:prstGeom>
          <a:noFill/>
        </p:spPr>
        <p:txBody>
          <a:bodyPr wrap="square" rtlCol="0">
            <a:spAutoFit/>
          </a:bodyPr>
          <a:lstStyle/>
          <a:p>
            <a:r>
              <a:rPr lang="en-IN" sz="8000" b="1" dirty="0">
                <a:solidFill>
                  <a:schemeClr val="accent5">
                    <a:lumMod val="40000"/>
                    <a:lumOff val="60000"/>
                  </a:schemeClr>
                </a:solidFill>
                <a:latin typeface="Aptos" panose="020B0004020202020204" pitchFamily="34" charset="0"/>
              </a:rPr>
              <a:t>No Pooling</a:t>
            </a:r>
          </a:p>
        </p:txBody>
      </p:sp>
    </p:spTree>
    <p:extLst>
      <p:ext uri="{BB962C8B-B14F-4D97-AF65-F5344CB8AC3E}">
        <p14:creationId xmlns:p14="http://schemas.microsoft.com/office/powerpoint/2010/main" val="1691943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E6329-3A5A-31D3-DB48-4F74C0C25BC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642FAB4-8A03-8434-CD16-D346CDCDB121}"/>
              </a:ext>
            </a:extLst>
          </p:cNvPr>
          <p:cNvSpPr/>
          <p:nvPr/>
        </p:nvSpPr>
        <p:spPr>
          <a:xfrm>
            <a:off x="461681" y="148882"/>
            <a:ext cx="11438965" cy="461665"/>
          </a:xfrm>
          <a:prstGeom prst="rect">
            <a:avLst/>
          </a:prstGeom>
        </p:spPr>
        <p:txBody>
          <a:bodyPr wrap="square">
            <a:spAutoFit/>
          </a:bodyPr>
          <a:lstStyle/>
          <a:p>
            <a:pPr algn="ctr"/>
            <a:r>
              <a:rPr lang="en-US" sz="2400" b="1" dirty="0">
                <a:latin typeface="Aptos" panose="020B0004020202020204" pitchFamily="34" charset="0"/>
              </a:rPr>
              <a:t>Sleep Deprivation and Reaction Times</a:t>
            </a:r>
            <a:endParaRPr lang="en-IN" sz="2400" b="1" dirty="0">
              <a:latin typeface="Aptos" panose="020B0004020202020204" pitchFamily="34" charset="0"/>
            </a:endParaRPr>
          </a:p>
        </p:txBody>
      </p:sp>
      <p:pic>
        <p:nvPicPr>
          <p:cNvPr id="2050" name="Picture 2" descr="Same trellis plot as above but with two regression lines per subplot to compare the two models.">
            <a:extLst>
              <a:ext uri="{FF2B5EF4-FFF2-40B4-BE49-F238E27FC236}">
                <a16:creationId xmlns:a16="http://schemas.microsoft.com/office/drawing/2014/main" id="{9484E323-31C0-D8DC-EAA6-3DA79C7BF5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52563" y="658135"/>
            <a:ext cx="5857200" cy="58572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0C2D01D-4CEA-7C8B-FE88-8CB68CBB26C0}"/>
              </a:ext>
            </a:extLst>
          </p:cNvPr>
          <p:cNvSpPr txBox="1"/>
          <p:nvPr/>
        </p:nvSpPr>
        <p:spPr>
          <a:xfrm rot="18689909">
            <a:off x="-850333" y="1604916"/>
            <a:ext cx="6820142" cy="769441"/>
          </a:xfrm>
          <a:prstGeom prst="rect">
            <a:avLst/>
          </a:prstGeom>
          <a:noFill/>
        </p:spPr>
        <p:txBody>
          <a:bodyPr wrap="square" rtlCol="0">
            <a:spAutoFit/>
          </a:bodyPr>
          <a:lstStyle/>
          <a:p>
            <a:r>
              <a:rPr lang="en-IN" sz="4400" b="1" dirty="0">
                <a:solidFill>
                  <a:schemeClr val="accent5">
                    <a:lumMod val="40000"/>
                    <a:lumOff val="60000"/>
                  </a:schemeClr>
                </a:solidFill>
                <a:latin typeface="Aptos" panose="020B0004020202020204" pitchFamily="34" charset="0"/>
              </a:rPr>
              <a:t>Complete Pooling</a:t>
            </a:r>
          </a:p>
        </p:txBody>
      </p:sp>
    </p:spTree>
    <p:extLst>
      <p:ext uri="{BB962C8B-B14F-4D97-AF65-F5344CB8AC3E}">
        <p14:creationId xmlns:p14="http://schemas.microsoft.com/office/powerpoint/2010/main" val="772637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AD029-28AD-6B2E-0665-90D912A99B2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ECD2279-208D-70F8-1CAA-EACD06224587}"/>
              </a:ext>
            </a:extLst>
          </p:cNvPr>
          <p:cNvSpPr/>
          <p:nvPr/>
        </p:nvSpPr>
        <p:spPr>
          <a:xfrm>
            <a:off x="461681" y="148882"/>
            <a:ext cx="11438965" cy="461665"/>
          </a:xfrm>
          <a:prstGeom prst="rect">
            <a:avLst/>
          </a:prstGeom>
        </p:spPr>
        <p:txBody>
          <a:bodyPr wrap="square">
            <a:spAutoFit/>
          </a:bodyPr>
          <a:lstStyle/>
          <a:p>
            <a:pPr algn="ctr"/>
            <a:r>
              <a:rPr lang="en-US" sz="2400" b="1" dirty="0">
                <a:latin typeface="Aptos" panose="020B0004020202020204" pitchFamily="34" charset="0"/>
              </a:rPr>
              <a:t>Richard McElreath and Statistical Rethinking</a:t>
            </a:r>
            <a:endParaRPr lang="en-IN" sz="2400" b="1" dirty="0">
              <a:latin typeface="Aptos" panose="020B0004020202020204" pitchFamily="34" charset="0"/>
            </a:endParaRPr>
          </a:p>
        </p:txBody>
      </p:sp>
      <p:pic>
        <p:nvPicPr>
          <p:cNvPr id="5" name="Picture 4">
            <a:extLst>
              <a:ext uri="{FF2B5EF4-FFF2-40B4-BE49-F238E27FC236}">
                <a16:creationId xmlns:a16="http://schemas.microsoft.com/office/drawing/2014/main" id="{BBDF9192-8CE4-AE54-F4ED-43E528B95143}"/>
              </a:ext>
            </a:extLst>
          </p:cNvPr>
          <p:cNvPicPr>
            <a:picLocks noChangeAspect="1"/>
          </p:cNvPicPr>
          <p:nvPr/>
        </p:nvPicPr>
        <p:blipFill>
          <a:blip r:embed="rId2"/>
          <a:stretch>
            <a:fillRect/>
          </a:stretch>
        </p:blipFill>
        <p:spPr>
          <a:xfrm>
            <a:off x="151429" y="816433"/>
            <a:ext cx="8462873" cy="5633873"/>
          </a:xfrm>
          <a:prstGeom prst="rect">
            <a:avLst/>
          </a:prstGeom>
        </p:spPr>
      </p:pic>
      <p:pic>
        <p:nvPicPr>
          <p:cNvPr id="3074" name="Picture 2" descr="rave reviews today for my new zoom background. it's a whole mood">
            <a:extLst>
              <a:ext uri="{FF2B5EF4-FFF2-40B4-BE49-F238E27FC236}">
                <a16:creationId xmlns:a16="http://schemas.microsoft.com/office/drawing/2014/main" id="{ADDBD14A-81FA-3559-26BC-D3A7D3DA7A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44918" y="3633369"/>
            <a:ext cx="1602000" cy="1800240"/>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544139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236A3-B77E-01E2-9D4E-375110FE81A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164F7E5-408F-8F13-8CAD-2DDC878D43C0}"/>
              </a:ext>
            </a:extLst>
          </p:cNvPr>
          <p:cNvSpPr/>
          <p:nvPr/>
        </p:nvSpPr>
        <p:spPr>
          <a:xfrm>
            <a:off x="461681" y="148882"/>
            <a:ext cx="11438965" cy="461665"/>
          </a:xfrm>
          <a:prstGeom prst="rect">
            <a:avLst/>
          </a:prstGeom>
        </p:spPr>
        <p:txBody>
          <a:bodyPr wrap="square">
            <a:spAutoFit/>
          </a:bodyPr>
          <a:lstStyle/>
          <a:p>
            <a:pPr algn="ctr"/>
            <a:r>
              <a:rPr lang="en-US" sz="2400" b="1" dirty="0">
                <a:latin typeface="Aptos" panose="020B0004020202020204" pitchFamily="34" charset="0"/>
              </a:rPr>
              <a:t>Sleep Deprivation and Reaction Times</a:t>
            </a:r>
            <a:endParaRPr lang="en-IN" sz="2400" b="1" dirty="0">
              <a:latin typeface="Aptos" panose="020B0004020202020204" pitchFamily="34" charset="0"/>
            </a:endParaRPr>
          </a:p>
        </p:txBody>
      </p:sp>
      <p:sp>
        <p:nvSpPr>
          <p:cNvPr id="2" name="TextBox 1">
            <a:extLst>
              <a:ext uri="{FF2B5EF4-FFF2-40B4-BE49-F238E27FC236}">
                <a16:creationId xmlns:a16="http://schemas.microsoft.com/office/drawing/2014/main" id="{FD7433AC-D737-7210-760D-D7AA8C7C4AD2}"/>
              </a:ext>
            </a:extLst>
          </p:cNvPr>
          <p:cNvSpPr txBox="1"/>
          <p:nvPr/>
        </p:nvSpPr>
        <p:spPr>
          <a:xfrm rot="18689909">
            <a:off x="155573" y="1151772"/>
            <a:ext cx="5610101" cy="769441"/>
          </a:xfrm>
          <a:prstGeom prst="rect">
            <a:avLst/>
          </a:prstGeom>
          <a:noFill/>
        </p:spPr>
        <p:txBody>
          <a:bodyPr wrap="square" rtlCol="0">
            <a:spAutoFit/>
          </a:bodyPr>
          <a:lstStyle/>
          <a:p>
            <a:r>
              <a:rPr lang="en-IN" sz="4400" b="1" dirty="0">
                <a:solidFill>
                  <a:schemeClr val="accent5">
                    <a:lumMod val="40000"/>
                    <a:lumOff val="60000"/>
                  </a:schemeClr>
                </a:solidFill>
                <a:latin typeface="Aptos" panose="020B0004020202020204" pitchFamily="34" charset="0"/>
              </a:rPr>
              <a:t>Partial Pooling</a:t>
            </a:r>
          </a:p>
        </p:txBody>
      </p:sp>
      <p:pic>
        <p:nvPicPr>
          <p:cNvPr id="4098" name="Picture 2" descr="Update of previous plot with partially pooled regression lines added.">
            <a:extLst>
              <a:ext uri="{FF2B5EF4-FFF2-40B4-BE49-F238E27FC236}">
                <a16:creationId xmlns:a16="http://schemas.microsoft.com/office/drawing/2014/main" id="{289001EB-9153-D71C-D4D9-0288596E97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7114" y="698904"/>
            <a:ext cx="5827116" cy="58271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324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DB659-FE6E-F80F-4ABF-13C64605960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819E263F-53B4-9129-6F65-01610665CB91}"/>
              </a:ext>
            </a:extLst>
          </p:cNvPr>
          <p:cNvSpPr/>
          <p:nvPr/>
        </p:nvSpPr>
        <p:spPr>
          <a:xfrm>
            <a:off x="461681" y="148882"/>
            <a:ext cx="11438965" cy="461665"/>
          </a:xfrm>
          <a:prstGeom prst="rect">
            <a:avLst/>
          </a:prstGeom>
        </p:spPr>
        <p:txBody>
          <a:bodyPr wrap="square">
            <a:spAutoFit/>
          </a:bodyPr>
          <a:lstStyle/>
          <a:p>
            <a:pPr algn="ctr"/>
            <a:r>
              <a:rPr lang="en-US" sz="2400" b="1" dirty="0">
                <a:latin typeface="Aptos" panose="020B0004020202020204" pitchFamily="34" charset="0"/>
              </a:rPr>
              <a:t>Sleep Deprivation and Reaction Times</a:t>
            </a:r>
            <a:endParaRPr lang="en-IN" sz="2400" b="1" dirty="0">
              <a:latin typeface="Aptos" panose="020B0004020202020204" pitchFamily="34" charset="0"/>
            </a:endParaRPr>
          </a:p>
        </p:txBody>
      </p:sp>
      <p:pic>
        <p:nvPicPr>
          <p:cNvPr id="5122" name="Picture 2" descr="Trellis plot of four participants to highlight the fine differences among the regression lines.">
            <a:extLst>
              <a:ext uri="{FF2B5EF4-FFF2-40B4-BE49-F238E27FC236}">
                <a16:creationId xmlns:a16="http://schemas.microsoft.com/office/drawing/2014/main" id="{D733D5C3-C500-4B74-424D-0621D25DE8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5176" y="969245"/>
            <a:ext cx="6742123" cy="5393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71941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F988A-7A0B-A44F-82D6-AF351C10DF1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565E7D3-F0A1-FDFD-FC68-F56BC9D6E2D1}"/>
              </a:ext>
            </a:extLst>
          </p:cNvPr>
          <p:cNvSpPr/>
          <p:nvPr/>
        </p:nvSpPr>
        <p:spPr>
          <a:xfrm>
            <a:off x="461681" y="148882"/>
            <a:ext cx="11438965" cy="461665"/>
          </a:xfrm>
          <a:prstGeom prst="rect">
            <a:avLst/>
          </a:prstGeom>
        </p:spPr>
        <p:txBody>
          <a:bodyPr wrap="square">
            <a:spAutoFit/>
          </a:bodyPr>
          <a:lstStyle/>
          <a:p>
            <a:pPr algn="ctr"/>
            <a:r>
              <a:rPr lang="en-US" sz="2400" b="1" dirty="0">
                <a:latin typeface="Aptos" panose="020B0004020202020204" pitchFamily="34" charset="0"/>
              </a:rPr>
              <a:t>Sleep Deprivation and Reaction Times</a:t>
            </a:r>
            <a:endParaRPr lang="en-IN" sz="2400" b="1" dirty="0">
              <a:latin typeface="Aptos" panose="020B0004020202020204" pitchFamily="34" charset="0"/>
            </a:endParaRPr>
          </a:p>
        </p:txBody>
      </p:sp>
      <p:pic>
        <p:nvPicPr>
          <p:cNvPr id="6146" name="Picture 2" descr="Scatterplot of the model parameters showing how estimates from the no pooling model are pulled towards the completely pooled value.">
            <a:extLst>
              <a:ext uri="{FF2B5EF4-FFF2-40B4-BE49-F238E27FC236}">
                <a16:creationId xmlns:a16="http://schemas.microsoft.com/office/drawing/2014/main" id="{FA1362F0-5639-EB69-CA0F-1340B208E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10" y="669879"/>
            <a:ext cx="7429379" cy="59435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428831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0D78E-FB31-2ED3-7907-8DD5E72EC76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525EBC0-07B4-6CAE-2199-67DED8C0992E}"/>
              </a:ext>
            </a:extLst>
          </p:cNvPr>
          <p:cNvPicPr>
            <a:picLocks noChangeAspect="1"/>
          </p:cNvPicPr>
          <p:nvPr/>
        </p:nvPicPr>
        <p:blipFill>
          <a:blip r:embed="rId3"/>
          <a:stretch>
            <a:fillRect/>
          </a:stretch>
        </p:blipFill>
        <p:spPr>
          <a:xfrm>
            <a:off x="0" y="106864"/>
            <a:ext cx="12192000" cy="6644272"/>
          </a:xfrm>
          <a:prstGeom prst="rect">
            <a:avLst/>
          </a:prstGeom>
        </p:spPr>
      </p:pic>
    </p:spTree>
    <p:extLst>
      <p:ext uri="{BB962C8B-B14F-4D97-AF65-F5344CB8AC3E}">
        <p14:creationId xmlns:p14="http://schemas.microsoft.com/office/powerpoint/2010/main" val="28770586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1849A-B4AE-6B21-F6F4-BF9DCA3AA6E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0CE9639-65E4-1065-8731-AB9379E1CEE4}"/>
              </a:ext>
            </a:extLst>
          </p:cNvPr>
          <p:cNvSpPr/>
          <p:nvPr/>
        </p:nvSpPr>
        <p:spPr>
          <a:xfrm>
            <a:off x="461681" y="148882"/>
            <a:ext cx="11438965" cy="461665"/>
          </a:xfrm>
          <a:prstGeom prst="rect">
            <a:avLst/>
          </a:prstGeom>
        </p:spPr>
        <p:txBody>
          <a:bodyPr wrap="square">
            <a:spAutoFit/>
          </a:bodyPr>
          <a:lstStyle/>
          <a:p>
            <a:pPr algn="ctr"/>
            <a:r>
              <a:rPr lang="en-US" sz="2400" b="1" dirty="0">
                <a:latin typeface="Aptos" panose="020B0004020202020204" pitchFamily="34" charset="0"/>
              </a:rPr>
              <a:t>Sleep Deprivation and Reaction Times</a:t>
            </a:r>
            <a:endParaRPr lang="en-IN" sz="2400" b="1" dirty="0">
              <a:latin typeface="Aptos" panose="020B0004020202020204" pitchFamily="34" charset="0"/>
            </a:endParaRPr>
          </a:p>
        </p:txBody>
      </p:sp>
      <p:pic>
        <p:nvPicPr>
          <p:cNvPr id="4" name="Picture 3">
            <a:extLst>
              <a:ext uri="{FF2B5EF4-FFF2-40B4-BE49-F238E27FC236}">
                <a16:creationId xmlns:a16="http://schemas.microsoft.com/office/drawing/2014/main" id="{42F11536-A1E7-56DE-7782-26FDE1549567}"/>
              </a:ext>
            </a:extLst>
          </p:cNvPr>
          <p:cNvPicPr>
            <a:picLocks noChangeAspect="1"/>
          </p:cNvPicPr>
          <p:nvPr/>
        </p:nvPicPr>
        <p:blipFill>
          <a:blip r:embed="rId3"/>
          <a:stretch>
            <a:fillRect/>
          </a:stretch>
        </p:blipFill>
        <p:spPr>
          <a:xfrm>
            <a:off x="910209" y="1083302"/>
            <a:ext cx="10606183" cy="5201148"/>
          </a:xfrm>
          <a:prstGeom prst="rect">
            <a:avLst/>
          </a:prstGeom>
        </p:spPr>
      </p:pic>
    </p:spTree>
    <p:extLst>
      <p:ext uri="{BB962C8B-B14F-4D97-AF65-F5344CB8AC3E}">
        <p14:creationId xmlns:p14="http://schemas.microsoft.com/office/powerpoint/2010/main" val="5765181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546</TotalTime>
  <Words>866</Words>
  <Application>Microsoft Office PowerPoint</Application>
  <PresentationFormat>Widescreen</PresentationFormat>
  <Paragraphs>49</Paragraphs>
  <Slides>19</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Rahul</dc:creator>
  <cp:lastModifiedBy>rahul.nimhans@outlook.com</cp:lastModifiedBy>
  <cp:revision>43</cp:revision>
  <dcterms:created xsi:type="dcterms:W3CDTF">2025-08-08T04:44:13Z</dcterms:created>
  <dcterms:modified xsi:type="dcterms:W3CDTF">2026-04-23T02:09:05Z</dcterms:modified>
</cp:coreProperties>
</file>