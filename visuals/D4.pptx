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1" r:id="rId2"/>
    <p:sldId id="256" r:id="rId3"/>
    <p:sldId id="257" r:id="rId4"/>
    <p:sldId id="259" r:id="rId5"/>
    <p:sldId id="262" r:id="rId6"/>
    <p:sldId id="260" r:id="rId7"/>
    <p:sldId id="258" r:id="rId8"/>
    <p:sldId id="265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D144B-C87C-4A92-9D88-DA82BB49597A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F945E-A80E-4A80-8A5B-B26957F49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282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73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296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39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382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62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467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737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86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31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047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99AF-0042-4501-9269-39C1D205859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52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499AF-0042-4501-9269-39C1D205859E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4FD5F-81F4-42DB-982F-53F581C9B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28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2"/>
            <a:ext cx="12192000" cy="682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32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97786"/>
            <a:ext cx="6858000" cy="4095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5499"/>
            <a:ext cx="12192000" cy="249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59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523" y="981633"/>
            <a:ext cx="4283895" cy="42838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8136" y="148882"/>
            <a:ext cx="78306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Does Species predict Body mass of palmer penguins?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975" y="5424611"/>
            <a:ext cx="99373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We want to know if each species of penguins differ in their body weights and if so, how much?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There could be lot many other aspects that determines body weight which is beyond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63353" y="1394012"/>
            <a:ext cx="3312459" cy="3003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114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46" y="308954"/>
            <a:ext cx="5840135" cy="32268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04212" y="595824"/>
            <a:ext cx="53877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Mean body mass for </a:t>
            </a:r>
            <a:r>
              <a:rPr lang="en-US" dirty="0" err="1">
                <a:latin typeface="Aptos" panose="020B0004020202020204" pitchFamily="34" charset="0"/>
              </a:rPr>
              <a:t>Adelie</a:t>
            </a:r>
            <a:r>
              <a:rPr lang="en-US" dirty="0">
                <a:latin typeface="Aptos" panose="020B0004020202020204" pitchFamily="34" charset="0"/>
              </a:rPr>
              <a:t> penguins (the reference species)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Chinstraps are, on average, about 32 g heavier than </a:t>
            </a:r>
            <a:r>
              <a:rPr lang="en-US" dirty="0" err="1">
                <a:latin typeface="Aptos" panose="020B0004020202020204" pitchFamily="34" charset="0"/>
              </a:rPr>
              <a:t>Adelies</a:t>
            </a:r>
            <a:r>
              <a:rPr lang="en-US" dirty="0">
                <a:latin typeface="Aptos" panose="020B0004020202020204" pitchFamily="34" charset="0"/>
              </a:rPr>
              <a:t> - but the p-value (0.631) says this difference is not statistically significant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ptos" panose="020B0004020202020204" pitchFamily="34" charset="0"/>
              </a:rPr>
              <a:t>Gentoos</a:t>
            </a:r>
            <a:r>
              <a:rPr lang="en-US" dirty="0">
                <a:latin typeface="Aptos" panose="020B0004020202020204" pitchFamily="34" charset="0"/>
              </a:rPr>
              <a:t> are on average 1,375 g heavier than </a:t>
            </a:r>
            <a:r>
              <a:rPr lang="en-US" dirty="0" err="1">
                <a:latin typeface="Aptos" panose="020B0004020202020204" pitchFamily="34" charset="0"/>
              </a:rPr>
              <a:t>Adelies</a:t>
            </a:r>
            <a:r>
              <a:rPr lang="en-US" dirty="0">
                <a:latin typeface="Aptos" panose="020B0004020202020204" pitchFamily="34" charset="0"/>
              </a:rPr>
              <a:t>, and the difference is highly significant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604682" y="846835"/>
            <a:ext cx="5248835" cy="1120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2026023" y="1335411"/>
            <a:ext cx="4849906" cy="836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1739152" y="2128788"/>
            <a:ext cx="5114365" cy="210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94528" y="3080294"/>
            <a:ext cx="2487706" cy="20170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70646" y="3719028"/>
            <a:ext cx="99373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 very important thing to understand is that the estimates for the other categories are presented </a:t>
            </a:r>
            <a:r>
              <a:rPr lang="en-US" b="1" i="1" dirty="0">
                <a:latin typeface="Aptos" panose="020B0004020202020204" pitchFamily="34" charset="0"/>
              </a:rPr>
              <a:t>relative</a:t>
            </a:r>
            <a:r>
              <a:rPr lang="en-US" i="1" dirty="0">
                <a:latin typeface="Aptos" panose="020B0004020202020204" pitchFamily="34" charset="0"/>
              </a:rPr>
              <a:t> to</a:t>
            </a:r>
            <a:r>
              <a:rPr lang="en-US" dirty="0">
                <a:latin typeface="Aptos" panose="020B0004020202020204" pitchFamily="34" charset="0"/>
              </a:rPr>
              <a:t> the reference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So now, can we say this is a good model?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03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523" y="981633"/>
            <a:ext cx="4283895" cy="42838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8136" y="148882"/>
            <a:ext cx="78306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Does Species predict Body mass of palmer penguins?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975" y="5424611"/>
            <a:ext cx="99373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We want to know if each species of penguins differ in their body weights and if so, how much?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There could be lot many other aspects that determines body weight which is beyond species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693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95" y="1258459"/>
            <a:ext cx="6216596" cy="3025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35272" y="560295"/>
            <a:ext cx="538778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Expected body mass for an </a:t>
            </a:r>
            <a:r>
              <a:rPr lang="en-US" dirty="0" err="1">
                <a:latin typeface="Aptos" panose="020B0004020202020204" pitchFamily="34" charset="0"/>
              </a:rPr>
              <a:t>Adelie</a:t>
            </a:r>
            <a:r>
              <a:rPr lang="en-US" dirty="0">
                <a:latin typeface="Aptos" panose="020B0004020202020204" pitchFamily="34" charset="0"/>
              </a:rPr>
              <a:t> with flipper length </a:t>
            </a:r>
            <a:r>
              <a:rPr lang="en-US" b="1" dirty="0">
                <a:latin typeface="Aptos" panose="020B0004020202020204" pitchFamily="34" charset="0"/>
              </a:rPr>
              <a:t>0 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For each 1 mm </a:t>
            </a: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</a:rPr>
              <a:t>increase</a:t>
            </a:r>
            <a:r>
              <a:rPr lang="en-US" dirty="0">
                <a:latin typeface="Aptos" panose="020B0004020202020204" pitchFamily="34" charset="0"/>
              </a:rPr>
              <a:t> in flipper length, body mass </a:t>
            </a: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</a:rPr>
              <a:t>increases</a:t>
            </a:r>
            <a:r>
              <a:rPr lang="en-US" dirty="0">
                <a:latin typeface="Aptos" panose="020B0004020202020204" pitchFamily="34" charset="0"/>
              </a:rPr>
              <a:t> by about </a:t>
            </a:r>
            <a:r>
              <a:rPr lang="en-US" b="1" dirty="0">
                <a:latin typeface="Aptos" panose="020B0004020202020204" pitchFamily="34" charset="0"/>
              </a:rPr>
              <a:t>40.7 g</a:t>
            </a:r>
            <a:r>
              <a:rPr lang="en-US" dirty="0">
                <a:latin typeface="Aptos" panose="020B0004020202020204" pitchFamily="34" charset="0"/>
              </a:rPr>
              <a:t>, holding species </a:t>
            </a:r>
            <a:r>
              <a:rPr lang="en-US" b="1" dirty="0">
                <a:latin typeface="Aptos" panose="020B0004020202020204" pitchFamily="34" charset="0"/>
              </a:rPr>
              <a:t>constant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Chinstraps are about </a:t>
            </a:r>
            <a:r>
              <a:rPr lang="en-US" b="1" dirty="0">
                <a:latin typeface="Aptos" panose="020B0004020202020204" pitchFamily="34" charset="0"/>
              </a:rPr>
              <a:t>207 g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Aptos" panose="020B0004020202020204" pitchFamily="34" charset="0"/>
              </a:rPr>
              <a:t>lighter</a:t>
            </a:r>
            <a:r>
              <a:rPr lang="en-US" dirty="0">
                <a:latin typeface="Aptos" panose="020B0004020202020204" pitchFamily="34" charset="0"/>
              </a:rPr>
              <a:t> than </a:t>
            </a:r>
            <a:r>
              <a:rPr lang="en-US" dirty="0" err="1">
                <a:latin typeface="Aptos" panose="020B0004020202020204" pitchFamily="34" charset="0"/>
              </a:rPr>
              <a:t>Adelies</a:t>
            </a:r>
            <a:r>
              <a:rPr lang="en-US" dirty="0">
                <a:latin typeface="Aptos" panose="020B0004020202020204" pitchFamily="34" charset="0"/>
              </a:rPr>
              <a:t> with the same flipper length.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Note</a:t>
            </a:r>
            <a:r>
              <a:rPr lang="en-US" dirty="0">
                <a:latin typeface="Aptos" panose="020B0004020202020204" pitchFamily="34" charset="0"/>
              </a:rPr>
              <a:t>: In the species-only model, Chinstraps were </a:t>
            </a: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</a:rPr>
              <a:t>heavier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b="1" dirty="0">
                <a:latin typeface="Aptos" panose="020B0004020202020204" pitchFamily="34" charset="0"/>
              </a:rPr>
              <a:t>(+32 g</a:t>
            </a:r>
            <a:r>
              <a:rPr lang="en-US" dirty="0">
                <a:latin typeface="Aptos" panose="020B0004020202020204" pitchFamily="34" charset="0"/>
              </a:rPr>
              <a:t>) than </a:t>
            </a:r>
            <a:r>
              <a:rPr lang="en-US" dirty="0" err="1">
                <a:latin typeface="Aptos" panose="020B0004020202020204" pitchFamily="34" charset="0"/>
              </a:rPr>
              <a:t>Adelies,but</a:t>
            </a:r>
            <a:r>
              <a:rPr lang="en-US" dirty="0">
                <a:latin typeface="Aptos" panose="020B0004020202020204" pitchFamily="34" charset="0"/>
              </a:rPr>
              <a:t> here they’re lighter.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That’s because flipper length was a </a:t>
            </a:r>
            <a:r>
              <a:rPr lang="en-US" b="1" dirty="0">
                <a:latin typeface="Aptos" panose="020B0004020202020204" pitchFamily="34" charset="0"/>
              </a:rPr>
              <a:t>confounder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Chinstraps have longer flippers, which inflated their mean mass when flipper length wasn’t accounted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ptos" panose="020B0004020202020204" pitchFamily="34" charset="0"/>
              </a:rPr>
              <a:t>Gentoos</a:t>
            </a:r>
            <a:r>
              <a:rPr lang="en-US" dirty="0">
                <a:latin typeface="Aptos" panose="020B0004020202020204" pitchFamily="34" charset="0"/>
              </a:rPr>
              <a:t> are about </a:t>
            </a:r>
            <a:r>
              <a:rPr lang="en-US" b="1" dirty="0">
                <a:latin typeface="Aptos" panose="020B0004020202020204" pitchFamily="34" charset="0"/>
              </a:rPr>
              <a:t>267 g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</a:rPr>
              <a:t>heavier</a:t>
            </a:r>
            <a:r>
              <a:rPr lang="en-US" dirty="0">
                <a:latin typeface="Aptos" panose="020B0004020202020204" pitchFamily="34" charset="0"/>
              </a:rPr>
              <a:t> than </a:t>
            </a:r>
            <a:r>
              <a:rPr lang="en-US" dirty="0" err="1">
                <a:latin typeface="Aptos" panose="020B0004020202020204" pitchFamily="34" charset="0"/>
              </a:rPr>
              <a:t>Adelies</a:t>
            </a:r>
            <a:r>
              <a:rPr lang="en-US" dirty="0">
                <a:latin typeface="Aptos" panose="020B0004020202020204" pitchFamily="34" charset="0"/>
              </a:rPr>
              <a:t> with the same flipper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In the species-only model, </a:t>
            </a:r>
            <a:r>
              <a:rPr lang="en-US" dirty="0" err="1">
                <a:latin typeface="Aptos" panose="020B0004020202020204" pitchFamily="34" charset="0"/>
              </a:rPr>
              <a:t>Gentoos</a:t>
            </a:r>
            <a:r>
              <a:rPr lang="en-US" dirty="0">
                <a:latin typeface="Aptos" panose="020B0004020202020204" pitchFamily="34" charset="0"/>
              </a:rPr>
              <a:t> were </a:t>
            </a:r>
            <a:r>
              <a:rPr lang="en-US" b="1" dirty="0">
                <a:latin typeface="Aptos" panose="020B0004020202020204" pitchFamily="34" charset="0"/>
              </a:rPr>
              <a:t>+1,375 g </a:t>
            </a: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</a:rPr>
              <a:t>heavier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Adding flipper length explains most of that difference</a:t>
            </a:r>
          </a:p>
        </p:txBody>
      </p:sp>
    </p:spTree>
    <p:extLst>
      <p:ext uri="{BB962C8B-B14F-4D97-AF65-F5344CB8AC3E}">
        <p14:creationId xmlns:p14="http://schemas.microsoft.com/office/powerpoint/2010/main" val="284453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1681" y="148882"/>
            <a:ext cx="11438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Type III ANOVA vs Type I ANOVA</a:t>
            </a:r>
            <a:endParaRPr lang="en-IN" sz="24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225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B4548-63B1-63F9-A1F1-4622DAA70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F86E64-AF72-E402-F83E-CCE4E6F43F4A}"/>
              </a:ext>
            </a:extLst>
          </p:cNvPr>
          <p:cNvSpPr/>
          <p:nvPr/>
        </p:nvSpPr>
        <p:spPr>
          <a:xfrm>
            <a:off x="461681" y="148882"/>
            <a:ext cx="11438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Contrast Coding</a:t>
            </a:r>
            <a:endParaRPr lang="en-IN" sz="24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172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D725B-7024-22F0-4D8F-23F3B3F14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E901EA-5C0D-938F-FC31-3D7879579E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047" y="887506"/>
            <a:ext cx="5400000" cy="5400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1CBB16-59C8-E829-648B-31C15EC0C04E}"/>
              </a:ext>
            </a:extLst>
          </p:cNvPr>
          <p:cNvSpPr/>
          <p:nvPr/>
        </p:nvSpPr>
        <p:spPr>
          <a:xfrm>
            <a:off x="461681" y="148882"/>
            <a:ext cx="11438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Should we bother about flipper length as well?</a:t>
            </a:r>
            <a:endParaRPr lang="en-IN" sz="24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258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9C3F4-9DF9-F668-4A28-DFDA48F65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922A5C2-67D8-E7FF-8D33-CD0BFC1EC6EE}"/>
              </a:ext>
            </a:extLst>
          </p:cNvPr>
          <p:cNvSpPr/>
          <p:nvPr/>
        </p:nvSpPr>
        <p:spPr>
          <a:xfrm>
            <a:off x="461681" y="148882"/>
            <a:ext cx="11438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Multiple Regression with Interaction Effects</a:t>
            </a:r>
            <a:endParaRPr lang="en-IN" sz="2400" b="1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BE40D1-0D1B-3D46-CE86-5DC59290E2C7}"/>
              </a:ext>
            </a:extLst>
          </p:cNvPr>
          <p:cNvSpPr txBox="1"/>
          <p:nvPr/>
        </p:nvSpPr>
        <p:spPr>
          <a:xfrm>
            <a:off x="387513" y="1187148"/>
            <a:ext cx="11321407" cy="97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Aptos" panose="020B0004020202020204" pitchFamily="34" charset="0"/>
              </a:rPr>
              <a:t>"Are male penguins' flippers longer than female penguins' flippers?" and your most accurate answer is, "Well, </a:t>
            </a:r>
            <a:r>
              <a:rPr lang="en-US" sz="2000" b="1" dirty="0">
                <a:latin typeface="Aptos" panose="020B0004020202020204" pitchFamily="34" charset="0"/>
              </a:rPr>
              <a:t>it depends </a:t>
            </a:r>
            <a:r>
              <a:rPr lang="en-US" sz="2000" dirty="0">
                <a:latin typeface="Aptos" panose="020B0004020202020204" pitchFamily="34" charset="0"/>
              </a:rPr>
              <a:t>on which species you are looking at," then you have an </a:t>
            </a:r>
            <a:r>
              <a:rPr lang="en-US" sz="2000" b="1" dirty="0">
                <a:latin typeface="Aptos" panose="020B0004020202020204" pitchFamily="34" charset="0"/>
              </a:rPr>
              <a:t>interaction</a:t>
            </a:r>
            <a:r>
              <a:rPr lang="en-US" sz="2000" dirty="0">
                <a:latin typeface="Aptos" panose="020B0004020202020204" pitchFamily="34" charset="0"/>
              </a:rPr>
              <a:t> effect!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72B0CF-6D66-447B-9B89-01D2C972C63F}"/>
              </a:ext>
            </a:extLst>
          </p:cNvPr>
          <p:cNvSpPr txBox="1"/>
          <p:nvPr/>
        </p:nvSpPr>
        <p:spPr>
          <a:xfrm>
            <a:off x="1449237" y="2652947"/>
            <a:ext cx="92935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The two variables act like chemical compounds combining them creates a </a:t>
            </a:r>
            <a:r>
              <a:rPr lang="en-US" sz="2000" b="1" dirty="0">
                <a:latin typeface="Aptos" panose="020B0004020202020204" pitchFamily="34" charset="0"/>
              </a:rPr>
              <a:t>different</a:t>
            </a:r>
            <a:r>
              <a:rPr lang="en-US" sz="2000" dirty="0">
                <a:latin typeface="Aptos" panose="020B0004020202020204" pitchFamily="34" charset="0"/>
              </a:rPr>
              <a:t> result than just adding them together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45705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379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</dc:creator>
  <cp:lastModifiedBy>rahul.nimhans@outlook.com</cp:lastModifiedBy>
  <cp:revision>38</cp:revision>
  <dcterms:created xsi:type="dcterms:W3CDTF">2025-08-08T04:44:13Z</dcterms:created>
  <dcterms:modified xsi:type="dcterms:W3CDTF">2026-03-28T17:34:02Z</dcterms:modified>
</cp:coreProperties>
</file>